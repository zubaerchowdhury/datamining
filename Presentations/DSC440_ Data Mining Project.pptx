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DM Sans Medium"/>
      <p:regular r:id="rId34"/>
      <p:bold r:id="rId35"/>
      <p:italic r:id="rId36"/>
      <p:boldItalic r:id="rId37"/>
    </p:embeddedFont>
    <p:embeddedFont>
      <p:font typeface="Roboto Mono"/>
      <p:regular r:id="rId38"/>
      <p:bold r:id="rId39"/>
      <p:italic r:id="rId40"/>
      <p:boldItalic r:id="rId41"/>
    </p:embeddedFont>
    <p:embeddedFont>
      <p:font typeface="Merriweather"/>
      <p:regular r:id="rId42"/>
      <p:bold r:id="rId43"/>
      <p:italic r:id="rId44"/>
      <p:boldItalic r:id="rId45"/>
    </p:embeddedFont>
    <p:embeddedFont>
      <p:font typeface="DM Sans"/>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42" Type="http://schemas.openxmlformats.org/officeDocument/2006/relationships/font" Target="fonts/Merriweather-regular.fntdata"/><Relationship Id="rId41" Type="http://schemas.openxmlformats.org/officeDocument/2006/relationships/font" Target="fonts/RobotoMono-boldItalic.fntdata"/><Relationship Id="rId44" Type="http://schemas.openxmlformats.org/officeDocument/2006/relationships/font" Target="fonts/Merriweather-italic.fntdata"/><Relationship Id="rId43" Type="http://schemas.openxmlformats.org/officeDocument/2006/relationships/font" Target="fonts/Merriweather-bold.fntdata"/><Relationship Id="rId46" Type="http://schemas.openxmlformats.org/officeDocument/2006/relationships/font" Target="fonts/DMSans-regular.fntdata"/><Relationship Id="rId45" Type="http://schemas.openxmlformats.org/officeDocument/2006/relationships/font" Target="fonts/Merriweath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DMSans-italic.fntdata"/><Relationship Id="rId47" Type="http://schemas.openxmlformats.org/officeDocument/2006/relationships/font" Target="fonts/DMSans-bold.fntdata"/><Relationship Id="rId49" Type="http://schemas.openxmlformats.org/officeDocument/2006/relationships/font" Target="fonts/DM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font" Target="fonts/DMSansMedium-bold.fntdata"/><Relationship Id="rId34" Type="http://schemas.openxmlformats.org/officeDocument/2006/relationships/font" Target="fonts/DMSansMedium-regular.fntdata"/><Relationship Id="rId37" Type="http://schemas.openxmlformats.org/officeDocument/2006/relationships/font" Target="fonts/DMSansMedium-boldItalic.fntdata"/><Relationship Id="rId36" Type="http://schemas.openxmlformats.org/officeDocument/2006/relationships/font" Target="fonts/DMSansMedium-italic.fntdata"/><Relationship Id="rId39" Type="http://schemas.openxmlformats.org/officeDocument/2006/relationships/font" Target="fonts/RobotoMono-bold.fntdata"/><Relationship Id="rId38" Type="http://schemas.openxmlformats.org/officeDocument/2006/relationships/font" Target="fonts/RobotoMono-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d428477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d428477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d4284775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d4284775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d42847758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ad42847758_0_8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ad42847758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ad42847758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d56320280_9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ad56320280_9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d4284775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d4284775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d42847758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d42847758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d42847758_0_9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ad42847758_0_9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d56320280_1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d56320280_1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ad42847758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ad42847758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ad56320280_9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ad56320280_9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d42847758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ad42847758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Our data reveals a critical problem: </a:t>
            </a:r>
            <a:r>
              <a:rPr b="1" lang="en">
                <a:solidFill>
                  <a:schemeClr val="dk1"/>
                </a:solidFill>
              </a:rPr>
              <a:t>half of all courses at University of Miami don't reach 50% capacity</a:t>
            </a:r>
            <a:r>
              <a:rPr lang="en">
                <a:solidFill>
                  <a:schemeClr val="dk1"/>
                </a:solidFill>
              </a:rPr>
              <a:t>, while others fill completely - there's barely any middle ground. With a median capacity of just 15 students, every enrollment decision matters. This bimodal pattern validates our project's core value: students urgently need to know which courses will fill fast during registration, and administrators need better tools to optimize course offerings and reduce the massive resource waste from under-enrolled courses.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en">
                <a:solidFill>
                  <a:schemeClr val="dk1"/>
                </a:solidFill>
              </a:rPr>
              <a:t>Even though the typical course is small (median capacity ≈ 15 seats), the median </a:t>
            </a:r>
            <a:r>
              <a:rPr i="1" lang="en">
                <a:solidFill>
                  <a:schemeClr val="dk1"/>
                </a:solidFill>
              </a:rPr>
              <a:t>final fill</a:t>
            </a:r>
            <a:r>
              <a:rPr lang="en">
                <a:solidFill>
                  <a:schemeClr val="dk1"/>
                </a:solidFill>
              </a:rPr>
              <a:t> is only about </a:t>
            </a:r>
            <a:r>
              <a:rPr b="1" lang="en">
                <a:solidFill>
                  <a:schemeClr val="dk1"/>
                </a:solidFill>
              </a:rPr>
              <a:t>45%</a:t>
            </a:r>
            <a:r>
              <a:rPr lang="en">
                <a:solidFill>
                  <a:schemeClr val="dk1"/>
                </a:solidFill>
              </a:rPr>
              <a:t>. And the histogram shows a very spiky, almost bimodal pattern: lots of sections end either </a:t>
            </a:r>
            <a:r>
              <a:rPr b="1" lang="en">
                <a:solidFill>
                  <a:schemeClr val="dk1"/>
                </a:solidFill>
              </a:rPr>
              <a:t>completely empty (0% fill)</a:t>
            </a:r>
            <a:r>
              <a:rPr lang="en">
                <a:solidFill>
                  <a:schemeClr val="dk1"/>
                </a:solidFill>
              </a:rPr>
              <a:t> or </a:t>
            </a:r>
            <a:r>
              <a:rPr b="1" lang="en">
                <a:solidFill>
                  <a:schemeClr val="dk1"/>
                </a:solidFill>
              </a:rPr>
              <a:t>completely full (100% fill)</a:t>
            </a:r>
            <a:r>
              <a:rPr lang="en">
                <a:solidFill>
                  <a:schemeClr val="dk1"/>
                </a:solidFill>
              </a:rPr>
              <a:t>, with relatively fewer courses in the middle.”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That’s a nice hook because it: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Suggests </a:t>
            </a:r>
            <a:r>
              <a:rPr b="1" lang="en">
                <a:solidFill>
                  <a:schemeClr val="dk1"/>
                </a:solidFill>
              </a:rPr>
              <a:t>large inefficiencies in seat allocation</a:t>
            </a:r>
            <a:r>
              <a:rPr lang="en">
                <a:solidFill>
                  <a:schemeClr val="dk1"/>
                </a:solidFill>
              </a:rPr>
              <a:t> (many empty seats while other sections are packed).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Naturally motivates your project: predicting demand / enrollment so sections can be planned and balanced better.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ad42847758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ad42847758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ad42847758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ad42847758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Enrollment Momentum</a:t>
            </a:r>
            <a:r>
              <a:rPr lang="en">
                <a:solidFill>
                  <a:schemeClr val="dk1"/>
                </a:solidFill>
              </a:rPr>
              <a:t>. It wasn't enough to simply know if a class was full; we needed to know </a:t>
            </a:r>
            <a:r>
              <a:rPr i="1" lang="en">
                <a:solidFill>
                  <a:schemeClr val="dk1"/>
                </a:solidFill>
              </a:rPr>
              <a:t>how fast</a:t>
            </a:r>
            <a:r>
              <a:rPr lang="en">
                <a:solidFill>
                  <a:schemeClr val="dk1"/>
                </a:solidFill>
              </a:rPr>
              <a:t> it was filling. We calculated the 'Velocity'—the rate of filling per day—and the 'Acceleration'—how that rate changes. </a:t>
            </a:r>
            <a:r>
              <a:rPr lang="en"/>
              <a:t>allows us to distinguish between a class that is full because it's popular (high velocity) versus a class that is full simply because it's small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ad4284775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ad4284775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standardize demand metrics across courses selected fill percentage instead of raw seat counts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ad80d8c0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ad80d8c0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Used</a:t>
            </a:r>
            <a:r>
              <a:rPr lang="en"/>
              <a:t> XGBoost to predict class sizes, focusing on avoiding 'cheating’ since we would not know the current days full numbers when predicting next week.  So we hid that data from the model. Forcing it to learn purely from historical data—looking at how fast seats were filling days ago. Aiming to get our forecasts within 5% of the actual student count.”</a:t>
            </a:r>
            <a:br>
              <a:rPr lang="en"/>
            </a:br>
            <a:br>
              <a:rPr lang="en"/>
            </a:br>
            <a:r>
              <a:rPr b="1" lang="en" sz="1300">
                <a:solidFill>
                  <a:schemeClr val="dk1"/>
                </a:solidFill>
              </a:rPr>
              <a:t>1. Gradient Boosting Framework</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XGBoost builds an ensemble of decision trees sequentially, where each new tree corrects the errors of the previous ones.</a:t>
            </a:r>
            <a:br>
              <a:rPr lang="en">
                <a:solidFill>
                  <a:schemeClr val="dk1"/>
                </a:solidFill>
              </a:rPr>
            </a:br>
            <a:r>
              <a:rPr lang="en">
                <a:solidFill>
                  <a:schemeClr val="dk1"/>
                </a:solidFill>
              </a:rPr>
              <a:t> This results in: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High predictive power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Low bias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Strong ability to capture complex patterns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2. Handles Nonlinearity Well</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Decision-tree-based models naturally capture nonlinear relationships without requiring feature transformations.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3. Regularization to Reduce Overfitting</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XGBoost includes </a:t>
            </a:r>
            <a:r>
              <a:rPr b="1" lang="en">
                <a:solidFill>
                  <a:schemeClr val="dk1"/>
                </a:solidFill>
              </a:rPr>
              <a:t>L1 (Lasso)</a:t>
            </a:r>
            <a:r>
              <a:rPr lang="en">
                <a:solidFill>
                  <a:schemeClr val="dk1"/>
                </a:solidFill>
              </a:rPr>
              <a:t> and </a:t>
            </a:r>
            <a:r>
              <a:rPr b="1" lang="en">
                <a:solidFill>
                  <a:schemeClr val="dk1"/>
                </a:solidFill>
              </a:rPr>
              <a:t>L2 (Ridge)</a:t>
            </a:r>
            <a:r>
              <a:rPr lang="en">
                <a:solidFill>
                  <a:schemeClr val="dk1"/>
                </a:solidFill>
              </a:rPr>
              <a:t> regularization directly in the model.</a:t>
            </a:r>
            <a:br>
              <a:rPr lang="en">
                <a:solidFill>
                  <a:schemeClr val="dk1"/>
                </a:solidFill>
              </a:rPr>
            </a:br>
            <a:r>
              <a:rPr lang="en">
                <a:solidFill>
                  <a:schemeClr val="dk1"/>
                </a:solidFill>
              </a:rPr>
              <a:t> This helps: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Prevent overfitting,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Improve generalization,</a:t>
            </a:r>
            <a:br>
              <a:rPr lang="en">
                <a:solidFill>
                  <a:schemeClr val="dk1"/>
                </a:solidFill>
              </a:rPr>
            </a:br>
            <a:r>
              <a:rPr lang="en">
                <a:solidFill>
                  <a:schemeClr val="dk1"/>
                </a:solidFill>
              </a:rPr>
              <a:t>Make classification more robust.</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4. Built-in Handling of Missing Values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XGBoost automatically learns the best direction (left or right) to take when a feature is missing.</a:t>
            </a:r>
            <a:br>
              <a:rPr lang="en">
                <a:solidFill>
                  <a:schemeClr val="dk1"/>
                </a:solidFill>
              </a:rPr>
            </a:br>
            <a:r>
              <a:rPr lang="en">
                <a:solidFill>
                  <a:schemeClr val="dk1"/>
                </a:solidFill>
              </a:rPr>
              <a:t>This is especially useful in real-world classification datasets.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5. Weighted and Probabilistic Outputs</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XGBoost supports: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Binary classification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Multiclass classification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Class imbalance handling through </a:t>
            </a:r>
            <a:r>
              <a:rPr lang="en">
                <a:solidFill>
                  <a:srgbClr val="188038"/>
                </a:solidFill>
                <a:latin typeface="Roboto Mono"/>
                <a:ea typeface="Roboto Mono"/>
                <a:cs typeface="Roboto Mono"/>
                <a:sym typeface="Roboto Mono"/>
              </a:rPr>
              <a:t>scale_pos_weight</a:t>
            </a:r>
            <a:endParaRPr>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Probability outputs through logistic transformation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flexibility makes it strong across many classification applications.</a:t>
            </a:r>
            <a:endParaRPr>
              <a:solidFill>
                <a:schemeClr val="dk1"/>
              </a:solidFill>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ad42847758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ad42847758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ad4284775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ad4284775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ad42847758_0_6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ad42847758_0_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modelling, we are classifying popular courses into 3 categories:</a:t>
            </a:r>
            <a:br>
              <a:rPr lang="en"/>
            </a:br>
            <a:r>
              <a:rPr lang="en"/>
              <a:t>3 days to fill, 7 days to fill and, 14 days to fill</a:t>
            </a:r>
            <a:br>
              <a:rPr lang="en"/>
            </a:br>
            <a:r>
              <a:rPr lang="en"/>
              <a:t>We also performed a 7 day forecast and compare between predicted vs actual in the scatterplot</a:t>
            </a:r>
            <a:br>
              <a:rPr lang="en"/>
            </a:br>
            <a:r>
              <a:rPr lang="en"/>
              <a:t>Our model is quite accurate within 5% tolerance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ad42847758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ad42847758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see which features are the most </a:t>
            </a:r>
            <a:r>
              <a:rPr lang="en"/>
              <a:t>important</a:t>
            </a:r>
            <a:r>
              <a:rPr lang="en"/>
              <a:t> when trying to predict 7 day fill rate forecast.</a:t>
            </a:r>
            <a:br>
              <a:rPr lang="en"/>
            </a:br>
            <a:r>
              <a:rPr lang="en"/>
              <a:t>The calculated fill percentage correlates well with prediction but interestingly </a:t>
            </a:r>
            <a:br>
              <a:rPr lang="en"/>
            </a:br>
            <a:r>
              <a:rPr lang="en"/>
              <a:t>we see that </a:t>
            </a:r>
            <a:r>
              <a:rPr lang="en"/>
              <a:t>architecture</a:t>
            </a:r>
            <a:r>
              <a:rPr lang="en"/>
              <a:t> and psychology courses (marked by ARC and PSY) is popular, early morning courses and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ad42847758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ad42847758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ad56320280_1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ad56320280_1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ad42847758_0_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ad42847758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d42847758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ad42847758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ad80d8c03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ad80d8c03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ad42847758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ad42847758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ad42847758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ad42847758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Admin: Allows </a:t>
            </a:r>
            <a:r>
              <a:rPr lang="en"/>
              <a:t>administrators to reach out to lecturers in advance when additional courses are needed to be opened.</a:t>
            </a:r>
            <a:br>
              <a:rPr lang="en"/>
            </a:br>
            <a:br>
              <a:rPr lang="en"/>
            </a:br>
            <a:r>
              <a:rPr lang="en"/>
              <a:t>Advisors: this reduces burden by answering the most common student question: 'Do I need to register for this today, or can I wait?'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ad56320280_1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ad56320280_1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131" name="Shape 131"/>
        <p:cNvGrpSpPr/>
        <p:nvPr/>
      </p:nvGrpSpPr>
      <p:grpSpPr>
        <a:xfrm>
          <a:off x="0" y="0"/>
          <a:ext cx="0" cy="0"/>
          <a:chOff x="0" y="0"/>
          <a:chExt cx="0" cy="0"/>
        </a:xfrm>
      </p:grpSpPr>
      <p:sp>
        <p:nvSpPr>
          <p:cNvPr id="132" name="Google Shape;132;p2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33" name="Google Shape;133;p2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134" name="Google Shape;134;p23"/>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5" name="Google Shape;135;p23"/>
          <p:cNvSpPr/>
          <p:nvPr>
            <p:ph idx="3" type="pic"/>
          </p:nvPr>
        </p:nvSpPr>
        <p:spPr>
          <a:xfrm>
            <a:off x="4437578" y="2171250"/>
            <a:ext cx="4509600" cy="2775600"/>
          </a:xfrm>
          <a:prstGeom prst="round2DiagRect">
            <a:avLst>
              <a:gd fmla="val 16667" name="adj1"/>
              <a:gd fmla="val 0" name="adj2"/>
            </a:avLst>
          </a:prstGeom>
          <a:noFill/>
          <a:ln>
            <a:noFill/>
          </a:ln>
        </p:spPr>
      </p:sp>
      <p:sp>
        <p:nvSpPr>
          <p:cNvPr id="136" name="Google Shape;136;p23"/>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37" name="Shape 137"/>
        <p:cNvGrpSpPr/>
        <p:nvPr/>
      </p:nvGrpSpPr>
      <p:grpSpPr>
        <a:xfrm>
          <a:off x="0" y="0"/>
          <a:ext cx="0" cy="0"/>
          <a:chOff x="0" y="0"/>
          <a:chExt cx="0" cy="0"/>
        </a:xfrm>
      </p:grpSpPr>
      <p:sp>
        <p:nvSpPr>
          <p:cNvPr id="138" name="Google Shape;138;p24"/>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9" name="Google Shape;13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0" name="Google Shape;140;p24"/>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1" name="Google Shape;141;p24"/>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24"/>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3" name="Google Shape;143;p24"/>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4" name="Google Shape;144;p2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45" name="Google Shape;145;p24"/>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146" name="Shape 146"/>
        <p:cNvGrpSpPr/>
        <p:nvPr/>
      </p:nvGrpSpPr>
      <p:grpSpPr>
        <a:xfrm>
          <a:off x="0" y="0"/>
          <a:ext cx="0" cy="0"/>
          <a:chOff x="0" y="0"/>
          <a:chExt cx="0" cy="0"/>
        </a:xfrm>
      </p:grpSpPr>
      <p:sp>
        <p:nvSpPr>
          <p:cNvPr id="147" name="Google Shape;14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5"/>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149" name="Google Shape;149;p25"/>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50" name="Google Shape;150;p25"/>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151" name="Shape 151"/>
        <p:cNvGrpSpPr/>
        <p:nvPr/>
      </p:nvGrpSpPr>
      <p:grpSpPr>
        <a:xfrm>
          <a:off x="0" y="0"/>
          <a:ext cx="0" cy="0"/>
          <a:chOff x="0" y="0"/>
          <a:chExt cx="0" cy="0"/>
        </a:xfrm>
      </p:grpSpPr>
      <p:sp>
        <p:nvSpPr>
          <p:cNvPr id="152" name="Google Shape;15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6"/>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154" name="Google Shape;154;p26"/>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55" name="Google Shape;155;p2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156" name="Shape 156"/>
        <p:cNvGrpSpPr/>
        <p:nvPr/>
      </p:nvGrpSpPr>
      <p:grpSpPr>
        <a:xfrm>
          <a:off x="0" y="0"/>
          <a:ext cx="0" cy="0"/>
          <a:chOff x="0" y="0"/>
          <a:chExt cx="0" cy="0"/>
        </a:xfrm>
      </p:grpSpPr>
      <p:sp>
        <p:nvSpPr>
          <p:cNvPr id="157" name="Google Shape;157;p2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158" name="Google Shape;158;p2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159" name="Google Shape;15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27"/>
          <p:cNvSpPr/>
          <p:nvPr>
            <p:ph idx="2" type="pic"/>
          </p:nvPr>
        </p:nvSpPr>
        <p:spPr>
          <a:xfrm>
            <a:off x="3726325" y="669925"/>
            <a:ext cx="5220900" cy="4276800"/>
          </a:xfrm>
          <a:prstGeom prst="round2DiagRect">
            <a:avLst>
              <a:gd fmla="val 16667" name="adj1"/>
              <a:gd fmla="val 0" name="adj2"/>
            </a:avLst>
          </a:prstGeom>
          <a:noFill/>
          <a:ln>
            <a:noFill/>
          </a:ln>
        </p:spPr>
      </p:sp>
      <p:sp>
        <p:nvSpPr>
          <p:cNvPr id="161" name="Google Shape;161;p27"/>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162" name="Google Shape;162;p2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163" name="Shape 163"/>
        <p:cNvGrpSpPr/>
        <p:nvPr/>
      </p:nvGrpSpPr>
      <p:grpSpPr>
        <a:xfrm>
          <a:off x="0" y="0"/>
          <a:ext cx="0" cy="0"/>
          <a:chOff x="0" y="0"/>
          <a:chExt cx="0" cy="0"/>
        </a:xfrm>
      </p:grpSpPr>
      <p:sp>
        <p:nvSpPr>
          <p:cNvPr id="164" name="Google Shape;164;p2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165" name="Google Shape;165;p2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166" name="Google Shape;166;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8"/>
          <p:cNvSpPr/>
          <p:nvPr>
            <p:ph idx="2" type="pic"/>
          </p:nvPr>
        </p:nvSpPr>
        <p:spPr>
          <a:xfrm>
            <a:off x="3726325" y="669925"/>
            <a:ext cx="5220900" cy="4276800"/>
          </a:xfrm>
          <a:prstGeom prst="round2DiagRect">
            <a:avLst>
              <a:gd fmla="val 16667" name="adj1"/>
              <a:gd fmla="val 0" name="adj2"/>
            </a:avLst>
          </a:prstGeom>
          <a:noFill/>
          <a:ln>
            <a:noFill/>
          </a:ln>
        </p:spPr>
      </p:sp>
      <p:sp>
        <p:nvSpPr>
          <p:cNvPr id="168" name="Google Shape;168;p2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169" name="Google Shape;169;p2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170" name="Google Shape;170;p2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171" name="Shape 171"/>
        <p:cNvGrpSpPr/>
        <p:nvPr/>
      </p:nvGrpSpPr>
      <p:grpSpPr>
        <a:xfrm>
          <a:off x="0" y="0"/>
          <a:ext cx="0" cy="0"/>
          <a:chOff x="0" y="0"/>
          <a:chExt cx="0" cy="0"/>
        </a:xfrm>
      </p:grpSpPr>
      <p:sp>
        <p:nvSpPr>
          <p:cNvPr id="172" name="Google Shape;172;p29"/>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3" name="Google Shape;17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175" name="Google Shape;175;p2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176" name="Google Shape;176;p29"/>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77" name="Google Shape;177;p2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178" name="Shape 178"/>
        <p:cNvGrpSpPr/>
        <p:nvPr/>
      </p:nvGrpSpPr>
      <p:grpSpPr>
        <a:xfrm>
          <a:off x="0" y="0"/>
          <a:ext cx="0" cy="0"/>
          <a:chOff x="0" y="0"/>
          <a:chExt cx="0" cy="0"/>
        </a:xfrm>
      </p:grpSpPr>
      <p:sp>
        <p:nvSpPr>
          <p:cNvPr id="179" name="Google Shape;17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30"/>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1" name="Google Shape;181;p30"/>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2" name="Google Shape;182;p30"/>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3" name="Google Shape;183;p30"/>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4" name="Google Shape;184;p30"/>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5" name="Google Shape;185;p30"/>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6" name="Google Shape;186;p30"/>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7" name="Google Shape;187;p30"/>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88" name="Google Shape;188;p30"/>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89" name="Google Shape;189;p30"/>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0" name="Google Shape;190;p30"/>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1" name="Google Shape;191;p30"/>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2" name="Google Shape;192;p30"/>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3" name="Google Shape;193;p30"/>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4" name="Google Shape;194;p30"/>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5" name="Google Shape;195;p30"/>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6" name="Google Shape;196;p30"/>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7" name="Google Shape;197;p30"/>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198" name="Google Shape;198;p30"/>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199" name="Google Shape;199;p30"/>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0" name="Google Shape;200;p30"/>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1" name="Google Shape;201;p30"/>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2" name="Google Shape;202;p30"/>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3" name="Google Shape;203;p30"/>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4" name="Google Shape;204;p30"/>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5" name="Google Shape;205;p30"/>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206" name="Google Shape;206;p30"/>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207" name="Google Shape;207;p30"/>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08" name="Google Shape;208;p30"/>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209" name="Shape 209"/>
        <p:cNvGrpSpPr/>
        <p:nvPr/>
      </p:nvGrpSpPr>
      <p:grpSpPr>
        <a:xfrm>
          <a:off x="0" y="0"/>
          <a:ext cx="0" cy="0"/>
          <a:chOff x="0" y="0"/>
          <a:chExt cx="0" cy="0"/>
        </a:xfrm>
      </p:grpSpPr>
      <p:sp>
        <p:nvSpPr>
          <p:cNvPr id="210" name="Google Shape;21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1" name="Google Shape;211;p3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212" name="Google Shape;212;p3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xml"/><Relationship Id="rId3"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8.xml"/><Relationship Id="rId3" Type="http://schemas.openxmlformats.org/officeDocument/2006/relationships/hyperlink" Target="https://nacada.ksu.edu/Resources/Clearinghouse/View-Articles/Advisor-to-Student-Ratio-Caseload-Resources.aspx" TargetMode="External"/><Relationship Id="rId4" Type="http://schemas.openxmlformats.org/officeDocument/2006/relationships/hyperlink" Target="https://realpython.com/python-web-scraping-practical-introduction/" TargetMode="External"/><Relationship Id="rId5" Type="http://schemas.openxmlformats.org/officeDocument/2006/relationships/hyperlink" Target="https://nces.ed.gov/programs/digest/d21/tables/dt21_326.10.asp" TargetMode="External"/><Relationship Id="rId6" Type="http://schemas.openxmlformats.org/officeDocument/2006/relationships/hyperlink" Target="https://canelink.miami.edu/"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idx="4" type="body"/>
          </p:nvPr>
        </p:nvSpPr>
        <p:spPr>
          <a:xfrm>
            <a:off x="8208751" y="196725"/>
            <a:ext cx="8124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12</a:t>
            </a:r>
            <a:r>
              <a:rPr lang="en"/>
              <a:t>.04.25</a:t>
            </a:r>
            <a:endParaRPr/>
          </a:p>
        </p:txBody>
      </p:sp>
      <p:sp>
        <p:nvSpPr>
          <p:cNvPr id="218" name="Google Shape;218;p32"/>
          <p:cNvSpPr txBox="1"/>
          <p:nvPr>
            <p:ph type="ctrTitle"/>
          </p:nvPr>
        </p:nvSpPr>
        <p:spPr>
          <a:xfrm>
            <a:off x="252375" y="722888"/>
            <a:ext cx="8694300" cy="250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400"/>
              <a:t>Discovering Enrollment Patterns for Course Planning</a:t>
            </a:r>
            <a:endParaRPr sz="5400"/>
          </a:p>
        </p:txBody>
      </p:sp>
      <p:sp>
        <p:nvSpPr>
          <p:cNvPr id="219" name="Google Shape;219;p32"/>
          <p:cNvSpPr txBox="1"/>
          <p:nvPr>
            <p:ph idx="2" type="subTitle"/>
          </p:nvPr>
        </p:nvSpPr>
        <p:spPr>
          <a:xfrm>
            <a:off x="1496250" y="3224900"/>
            <a:ext cx="6151500" cy="6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2"/>
                </a:solidFill>
              </a:rPr>
              <a:t>Tasmia Alamgir</a:t>
            </a:r>
            <a:r>
              <a:rPr lang="en" sz="1600">
                <a:solidFill>
                  <a:schemeClr val="lt2"/>
                </a:solidFill>
              </a:rPr>
              <a:t>         </a:t>
            </a:r>
            <a:r>
              <a:rPr lang="en" sz="1600">
                <a:solidFill>
                  <a:schemeClr val="lt2"/>
                </a:solidFill>
              </a:rPr>
              <a:t>Zubaer Chowdhury</a:t>
            </a:r>
            <a:r>
              <a:rPr lang="en" sz="1600">
                <a:solidFill>
                  <a:schemeClr val="lt2"/>
                </a:solidFill>
              </a:rPr>
              <a:t>         </a:t>
            </a:r>
            <a:r>
              <a:rPr lang="en" sz="1600">
                <a:solidFill>
                  <a:schemeClr val="lt2"/>
                </a:solidFill>
              </a:rPr>
              <a:t>Mateo Goldman</a:t>
            </a:r>
            <a:endParaRPr sz="1600">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3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Table of Contents</a:t>
            </a:r>
            <a:endParaRPr/>
          </a:p>
        </p:txBody>
      </p:sp>
      <p:sp>
        <p:nvSpPr>
          <p:cNvPr id="226" name="Google Shape;226;p3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sp>
        <p:nvSpPr>
          <p:cNvPr id="227" name="Google Shape;227;p33"/>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Introduction &amp; Motivation</a:t>
            </a:r>
            <a:endParaRPr b="1" sz="3650">
              <a:solidFill>
                <a:schemeClr val="dk1"/>
              </a:solidFill>
              <a:latin typeface="Merriweather"/>
              <a:ea typeface="Merriweather"/>
              <a:cs typeface="Merriweather"/>
              <a:sym typeface="Merriweather"/>
            </a:endParaRPr>
          </a:p>
        </p:txBody>
      </p:sp>
      <p:sp>
        <p:nvSpPr>
          <p:cNvPr id="228" name="Google Shape;228;p33"/>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Cleaning &amp; Preprocessing</a:t>
            </a:r>
            <a:endParaRPr b="1" sz="3650">
              <a:solidFill>
                <a:schemeClr val="accent2"/>
              </a:solidFill>
              <a:latin typeface="Merriweather"/>
              <a:ea typeface="Merriweather"/>
              <a:cs typeface="Merriweather"/>
              <a:sym typeface="Merriweather"/>
            </a:endParaRPr>
          </a:p>
        </p:txBody>
      </p:sp>
      <p:sp>
        <p:nvSpPr>
          <p:cNvPr id="229" name="Google Shape;229;p33"/>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Feature Engineering</a:t>
            </a:r>
            <a:endParaRPr b="1" sz="3650">
              <a:solidFill>
                <a:schemeClr val="accent2"/>
              </a:solidFill>
              <a:latin typeface="Merriweather"/>
              <a:ea typeface="Merriweather"/>
              <a:cs typeface="Merriweather"/>
              <a:sym typeface="Merriweather"/>
            </a:endParaRPr>
          </a:p>
        </p:txBody>
      </p:sp>
      <p:sp>
        <p:nvSpPr>
          <p:cNvPr id="230" name="Google Shape;230;p33"/>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Modeling</a:t>
            </a:r>
            <a:endParaRPr b="1" sz="3650">
              <a:solidFill>
                <a:schemeClr val="accent2"/>
              </a:solidFill>
              <a:latin typeface="Merriweather"/>
              <a:ea typeface="Merriweather"/>
              <a:cs typeface="Merriweather"/>
              <a:sym typeface="Merriweather"/>
            </a:endParaRPr>
          </a:p>
        </p:txBody>
      </p:sp>
      <p:sp>
        <p:nvSpPr>
          <p:cNvPr id="231" name="Google Shape;231;p33"/>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Conclusion</a:t>
            </a:r>
            <a:endParaRPr b="1" sz="3650">
              <a:solidFill>
                <a:schemeClr val="accent2"/>
              </a:solidFill>
              <a:latin typeface="Merriweather"/>
              <a:ea typeface="Merriweather"/>
              <a:cs typeface="Merriweather"/>
              <a:sym typeface="Merriweather"/>
            </a:endParaRPr>
          </a:p>
        </p:txBody>
      </p:sp>
      <p:sp>
        <p:nvSpPr>
          <p:cNvPr id="232" name="Google Shape;232;p33"/>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1.</a:t>
            </a:r>
            <a:endParaRPr b="1" sz="1450">
              <a:solidFill>
                <a:schemeClr val="dk1"/>
              </a:solidFill>
              <a:latin typeface="Merriweather"/>
              <a:ea typeface="Merriweather"/>
              <a:cs typeface="Merriweather"/>
              <a:sym typeface="Merriweather"/>
            </a:endParaRPr>
          </a:p>
        </p:txBody>
      </p:sp>
      <p:sp>
        <p:nvSpPr>
          <p:cNvPr id="233" name="Google Shape;233;p33"/>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234" name="Google Shape;234;p33"/>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235" name="Google Shape;235;p33"/>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236" name="Google Shape;236;p33"/>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0" name="Shape 240"/>
        <p:cNvGrpSpPr/>
        <p:nvPr/>
      </p:nvGrpSpPr>
      <p:grpSpPr>
        <a:xfrm>
          <a:off x="0" y="0"/>
          <a:ext cx="0" cy="0"/>
          <a:chOff x="0" y="0"/>
          <a:chExt cx="0" cy="0"/>
        </a:xfrm>
      </p:grpSpPr>
      <p:sp>
        <p:nvSpPr>
          <p:cNvPr id="241" name="Google Shape;241;p34"/>
          <p:cNvSpPr txBox="1"/>
          <p:nvPr/>
        </p:nvSpPr>
        <p:spPr>
          <a:xfrm>
            <a:off x="428625" y="1354175"/>
            <a:ext cx="8368200" cy="560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 u="none" cap="none" strike="noStrike">
                <a:solidFill>
                  <a:schemeClr val="dk2"/>
                </a:solidFill>
                <a:latin typeface="DM Sans"/>
                <a:ea typeface="DM Sans"/>
                <a:cs typeface="DM Sans"/>
                <a:sym typeface="DM Sans"/>
              </a:rPr>
              <a:t>College students notoriousl</a:t>
            </a:r>
            <a:r>
              <a:rPr lang="en">
                <a:solidFill>
                  <a:schemeClr val="dk2"/>
                </a:solidFill>
                <a:latin typeface="DM Sans"/>
                <a:ea typeface="DM Sans"/>
                <a:cs typeface="DM Sans"/>
                <a:sym typeface="DM Sans"/>
              </a:rPr>
              <a:t>y</a:t>
            </a:r>
            <a:r>
              <a:rPr i="0" lang="en" u="none" cap="none" strike="noStrike">
                <a:solidFill>
                  <a:schemeClr val="dk2"/>
                </a:solidFill>
                <a:latin typeface="DM Sans"/>
                <a:ea typeface="DM Sans"/>
                <a:cs typeface="DM Sans"/>
                <a:sym typeface="DM Sans"/>
              </a:rPr>
              <a:t> face significant stress when planning their academic trajectory, often leading to inefficiencies</a:t>
            </a:r>
            <a:r>
              <a:rPr lang="en">
                <a:solidFill>
                  <a:schemeClr val="dk2"/>
                </a:solidFill>
                <a:latin typeface="DM Sans"/>
                <a:ea typeface="DM Sans"/>
                <a:cs typeface="DM Sans"/>
                <a:sym typeface="DM Sans"/>
              </a:rPr>
              <a:t> in course selection.</a:t>
            </a:r>
            <a:endParaRPr>
              <a:solidFill>
                <a:schemeClr val="dk2"/>
              </a:solidFill>
              <a:latin typeface="DM Sans"/>
              <a:ea typeface="DM Sans"/>
              <a:cs typeface="DM Sans"/>
              <a:sym typeface="DM Sans"/>
            </a:endParaRPr>
          </a:p>
        </p:txBody>
      </p:sp>
      <p:sp>
        <p:nvSpPr>
          <p:cNvPr id="242" name="Google Shape;242;p34"/>
          <p:cNvSpPr txBox="1"/>
          <p:nvPr/>
        </p:nvSpPr>
        <p:spPr>
          <a:xfrm>
            <a:off x="557013" y="2297335"/>
            <a:ext cx="3714900" cy="560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 u="none" cap="none" strike="noStrike">
                <a:solidFill>
                  <a:schemeClr val="dk2"/>
                </a:solidFill>
                <a:latin typeface="DM Sans"/>
                <a:ea typeface="DM Sans"/>
                <a:cs typeface="DM Sans"/>
                <a:sym typeface="DM Sans"/>
              </a:rPr>
              <a:t>30% of U.S. college students change their major within three years.</a:t>
            </a:r>
            <a:endParaRPr>
              <a:solidFill>
                <a:schemeClr val="dk2"/>
              </a:solidFill>
              <a:latin typeface="DM Sans"/>
              <a:ea typeface="DM Sans"/>
              <a:cs typeface="DM Sans"/>
              <a:sym typeface="DM Sans"/>
            </a:endParaRPr>
          </a:p>
        </p:txBody>
      </p:sp>
      <p:sp>
        <p:nvSpPr>
          <p:cNvPr id="243" name="Google Shape;243;p34"/>
          <p:cNvSpPr/>
          <p:nvPr/>
        </p:nvSpPr>
        <p:spPr>
          <a:xfrm>
            <a:off x="428625" y="2322422"/>
            <a:ext cx="21300" cy="480000"/>
          </a:xfrm>
          <a:prstGeom prst="rect">
            <a:avLst/>
          </a:prstGeom>
          <a:solidFill>
            <a:srgbClr val="EF444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4" name="Google Shape;244;p34"/>
          <p:cNvSpPr txBox="1"/>
          <p:nvPr/>
        </p:nvSpPr>
        <p:spPr>
          <a:xfrm>
            <a:off x="557013" y="3048118"/>
            <a:ext cx="3714900" cy="560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 u="none" cap="none" strike="noStrike">
                <a:solidFill>
                  <a:schemeClr val="dk2"/>
                </a:solidFill>
                <a:latin typeface="DM Sans"/>
                <a:ea typeface="DM Sans"/>
                <a:cs typeface="DM Sans"/>
                <a:sym typeface="DM Sans"/>
              </a:rPr>
              <a:t>Only 46% of students graduate with a bachelor's degree within four years.</a:t>
            </a:r>
            <a:endParaRPr>
              <a:solidFill>
                <a:schemeClr val="dk2"/>
              </a:solidFill>
              <a:latin typeface="DM Sans"/>
              <a:ea typeface="DM Sans"/>
              <a:cs typeface="DM Sans"/>
              <a:sym typeface="DM Sans"/>
            </a:endParaRPr>
          </a:p>
        </p:txBody>
      </p:sp>
      <p:sp>
        <p:nvSpPr>
          <p:cNvPr id="245" name="Google Shape;245;p34"/>
          <p:cNvSpPr/>
          <p:nvPr/>
        </p:nvSpPr>
        <p:spPr>
          <a:xfrm>
            <a:off x="428625" y="2945268"/>
            <a:ext cx="21300" cy="685800"/>
          </a:xfrm>
          <a:prstGeom prst="rect">
            <a:avLst/>
          </a:prstGeom>
          <a:solidFill>
            <a:srgbClr val="EF444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6" name="Google Shape;246;p34"/>
          <p:cNvSpPr txBox="1"/>
          <p:nvPr/>
        </p:nvSpPr>
        <p:spPr>
          <a:xfrm>
            <a:off x="557013" y="3773831"/>
            <a:ext cx="3714900" cy="9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i="0" lang="en" u="none" cap="none" strike="noStrike">
                <a:solidFill>
                  <a:schemeClr val="dk2"/>
                </a:solidFill>
                <a:latin typeface="DM Sans"/>
                <a:ea typeface="DM Sans"/>
                <a:cs typeface="DM Sans"/>
                <a:sym typeface="DM Sans"/>
              </a:rPr>
              <a:t>High Stress Registration uncertainty creates significant anxiety and burdens academic advisors.</a:t>
            </a:r>
            <a:endParaRPr>
              <a:solidFill>
                <a:schemeClr val="dk2"/>
              </a:solidFill>
              <a:latin typeface="DM Sans"/>
              <a:ea typeface="DM Sans"/>
              <a:cs typeface="DM Sans"/>
              <a:sym typeface="DM Sans"/>
            </a:endParaRPr>
          </a:p>
        </p:txBody>
      </p:sp>
      <p:sp>
        <p:nvSpPr>
          <p:cNvPr id="247" name="Google Shape;247;p34"/>
          <p:cNvSpPr/>
          <p:nvPr/>
        </p:nvSpPr>
        <p:spPr>
          <a:xfrm>
            <a:off x="428625" y="3773831"/>
            <a:ext cx="21300" cy="685800"/>
          </a:xfrm>
          <a:prstGeom prst="rect">
            <a:avLst/>
          </a:prstGeom>
          <a:solidFill>
            <a:srgbClr val="EF444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8" name="Google Shape;248;p34"/>
          <p:cNvSpPr txBox="1"/>
          <p:nvPr/>
        </p:nvSpPr>
        <p:spPr>
          <a:xfrm>
            <a:off x="428625" y="550475"/>
            <a:ext cx="8551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3000">
                <a:solidFill>
                  <a:schemeClr val="dk1"/>
                </a:solidFill>
                <a:latin typeface="Merriweather"/>
                <a:ea typeface="Merriweather"/>
                <a:cs typeface="Merriweather"/>
                <a:sym typeface="Merriweather"/>
              </a:rPr>
              <a:t>Motivation</a:t>
            </a:r>
            <a:endParaRPr b="1" sz="3000">
              <a:solidFill>
                <a:schemeClr val="dk1"/>
              </a:solidFill>
              <a:latin typeface="Merriweather"/>
              <a:ea typeface="Merriweather"/>
              <a:cs typeface="Merriweather"/>
              <a:sym typeface="Merriweather"/>
            </a:endParaRPr>
          </a:p>
        </p:txBody>
      </p:sp>
      <p:pic>
        <p:nvPicPr>
          <p:cNvPr id="249" name="Google Shape;249;p34" title="847cc416664cfecaa026f56f7079228a-teenage-girl-in-orange-shirt-sits-at-desk-with-head-in-hands-looking-down-with-laptop-in-front_l.jpg"/>
          <p:cNvPicPr preferRelativeResize="0"/>
          <p:nvPr/>
        </p:nvPicPr>
        <p:blipFill rotWithShape="1">
          <a:blip r:embed="rId3">
            <a:alphaModFix/>
          </a:blip>
          <a:srcRect b="-4030" l="0" r="0" t="4030"/>
          <a:stretch/>
        </p:blipFill>
        <p:spPr>
          <a:xfrm>
            <a:off x="4668188" y="2139550"/>
            <a:ext cx="4128671" cy="2751775"/>
          </a:xfrm>
          <a:prstGeom prst="rect">
            <a:avLst/>
          </a:prstGeom>
          <a:noFill/>
          <a:ln>
            <a:noFill/>
          </a:ln>
        </p:spPr>
      </p:pic>
      <p:sp>
        <p:nvSpPr>
          <p:cNvPr id="250" name="Google Shape;250;p34"/>
          <p:cNvSpPr txBox="1"/>
          <p:nvPr>
            <p:ph idx="4294967295" type="body"/>
          </p:nvPr>
        </p:nvSpPr>
        <p:spPr>
          <a:xfrm>
            <a:off x="7087526" y="156400"/>
            <a:ext cx="1933500" cy="209100"/>
          </a:xfrm>
          <a:prstGeom prst="rect">
            <a:avLst/>
          </a:prstGeom>
        </p:spPr>
        <p:txBody>
          <a:bodyPr anchorCtr="0" anchor="t" bIns="91425" lIns="91425" spcFirstLastPara="1" rIns="91425" wrap="square" tIns="91425">
            <a:noAutofit/>
          </a:bodyPr>
          <a:lstStyle/>
          <a:p>
            <a:pPr indent="0" lvl="0" marL="0" rtl="0" algn="r">
              <a:lnSpc>
                <a:spcPct val="95000"/>
              </a:lnSpc>
              <a:spcBef>
                <a:spcPts val="0"/>
              </a:spcBef>
              <a:spcAft>
                <a:spcPts val="1200"/>
              </a:spcAft>
              <a:buSzPts val="275"/>
              <a:buNone/>
            </a:pPr>
            <a:r>
              <a:rPr lang="en" sz="800">
                <a:solidFill>
                  <a:schemeClr val="dk1"/>
                </a:solidFill>
              </a:rPr>
              <a:t>Data Mining</a:t>
            </a:r>
            <a:endParaRPr sz="800">
              <a:solidFill>
                <a:schemeClr val="dk1"/>
              </a:solidFill>
            </a:endParaRPr>
          </a:p>
        </p:txBody>
      </p:sp>
      <p:sp>
        <p:nvSpPr>
          <p:cNvPr id="251" name="Google Shape;251;p34"/>
          <p:cNvSpPr txBox="1"/>
          <p:nvPr>
            <p:ph idx="4294967295" type="body"/>
          </p:nvPr>
        </p:nvSpPr>
        <p:spPr>
          <a:xfrm>
            <a:off x="275451" y="156400"/>
            <a:ext cx="18603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Introduction</a:t>
            </a:r>
            <a:endParaRPr sz="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 Goal</a:t>
            </a:r>
            <a:endParaRPr/>
          </a:p>
        </p:txBody>
      </p:sp>
      <p:sp>
        <p:nvSpPr>
          <p:cNvPr id="257" name="Google Shape;257;p35"/>
          <p:cNvSpPr txBox="1"/>
          <p:nvPr>
            <p:ph idx="1" type="body"/>
          </p:nvPr>
        </p:nvSpPr>
        <p:spPr>
          <a:xfrm>
            <a:off x="479675" y="2657122"/>
            <a:ext cx="3619800" cy="180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A</a:t>
            </a:r>
            <a:r>
              <a:rPr lang="en" sz="1400"/>
              <a:t>utomating the discovery of course popularity and seat availability</a:t>
            </a:r>
            <a:endParaRPr sz="1400"/>
          </a:p>
          <a:p>
            <a:pPr indent="0" lvl="0" marL="0" rtl="0" algn="l">
              <a:spcBef>
                <a:spcPts val="1200"/>
              </a:spcBef>
              <a:spcAft>
                <a:spcPts val="1200"/>
              </a:spcAft>
              <a:buNone/>
            </a:pPr>
            <a:r>
              <a:rPr lang="en" sz="1400"/>
              <a:t>Reducing repetitive query burden on academic advisors, allowing them to focus on guidance pivotal to student </a:t>
            </a:r>
            <a:r>
              <a:rPr lang="en" sz="1400"/>
              <a:t>success</a:t>
            </a:r>
            <a:r>
              <a:rPr lang="en" sz="1400"/>
              <a:t>.</a:t>
            </a:r>
            <a:endParaRPr sz="1400"/>
          </a:p>
        </p:txBody>
      </p:sp>
      <p:sp>
        <p:nvSpPr>
          <p:cNvPr id="258" name="Google Shape;258;p35"/>
          <p:cNvSpPr txBox="1"/>
          <p:nvPr>
            <p:ph idx="2" type="body"/>
          </p:nvPr>
        </p:nvSpPr>
        <p:spPr>
          <a:xfrm>
            <a:off x="5044525" y="2657122"/>
            <a:ext cx="3619800" cy="180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Provide students with transparent metrics: </a:t>
            </a:r>
            <a:endParaRPr sz="1400"/>
          </a:p>
          <a:p>
            <a:pPr indent="-317500" lvl="0" marL="457200" rtl="0" algn="l">
              <a:spcBef>
                <a:spcPts val="1200"/>
              </a:spcBef>
              <a:spcAft>
                <a:spcPts val="0"/>
              </a:spcAft>
              <a:buSzPts val="1400"/>
              <a:buChar char="●"/>
            </a:pPr>
            <a:r>
              <a:rPr lang="en" sz="1400"/>
              <a:t>Course Ratings (Fill Speed)</a:t>
            </a:r>
            <a:endParaRPr sz="1400"/>
          </a:p>
          <a:p>
            <a:pPr indent="-317500" lvl="0" marL="457200" rtl="0" algn="l">
              <a:spcBef>
                <a:spcPts val="0"/>
              </a:spcBef>
              <a:spcAft>
                <a:spcPts val="0"/>
              </a:spcAft>
              <a:buSzPts val="1400"/>
              <a:buChar char="●"/>
            </a:pPr>
            <a:r>
              <a:rPr lang="en" sz="1400"/>
              <a:t>Dropout Rates (Professor Quality)</a:t>
            </a:r>
            <a:endParaRPr sz="1400"/>
          </a:p>
          <a:p>
            <a:pPr indent="-317500" lvl="0" marL="457200" rtl="0" algn="l">
              <a:spcBef>
                <a:spcPts val="0"/>
              </a:spcBef>
              <a:spcAft>
                <a:spcPts val="0"/>
              </a:spcAft>
              <a:buSzPts val="1400"/>
              <a:buChar char="●"/>
            </a:pPr>
            <a:r>
              <a:rPr lang="en" sz="1400"/>
              <a:t>Enrollment Probability</a:t>
            </a:r>
            <a:endParaRPr sz="1400"/>
          </a:p>
        </p:txBody>
      </p:sp>
      <p:sp>
        <p:nvSpPr>
          <p:cNvPr id="259" name="Google Shape;259;p35"/>
          <p:cNvSpPr txBox="1"/>
          <p:nvPr>
            <p:ph idx="3" type="subTitle"/>
          </p:nvPr>
        </p:nvSpPr>
        <p:spPr>
          <a:xfrm>
            <a:off x="479675" y="2053836"/>
            <a:ext cx="36198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Advisors</a:t>
            </a:r>
            <a:endParaRPr/>
          </a:p>
        </p:txBody>
      </p:sp>
      <p:sp>
        <p:nvSpPr>
          <p:cNvPr id="260" name="Google Shape;260;p35"/>
          <p:cNvSpPr txBox="1"/>
          <p:nvPr>
            <p:ph idx="4" type="subTitle"/>
          </p:nvPr>
        </p:nvSpPr>
        <p:spPr>
          <a:xfrm>
            <a:off x="5044525" y="2114436"/>
            <a:ext cx="36198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Students</a:t>
            </a:r>
            <a:endParaRPr/>
          </a:p>
        </p:txBody>
      </p:sp>
      <p:sp>
        <p:nvSpPr>
          <p:cNvPr id="261" name="Google Shape;261;p35"/>
          <p:cNvSpPr txBox="1"/>
          <p:nvPr>
            <p:ph idx="1" type="body"/>
          </p:nvPr>
        </p:nvSpPr>
        <p:spPr>
          <a:xfrm>
            <a:off x="483150" y="1208125"/>
            <a:ext cx="8184600" cy="627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sz="1400"/>
              <a:t>Offer better support to student, faculty and staff by making enrollment and academic planning for efficient for schools, colleges and universities.</a:t>
            </a:r>
            <a:endParaRPr sz="1400"/>
          </a:p>
        </p:txBody>
      </p:sp>
      <p:sp>
        <p:nvSpPr>
          <p:cNvPr id="262" name="Google Shape;262;p35"/>
          <p:cNvSpPr txBox="1"/>
          <p:nvPr>
            <p:ph idx="2" type="body"/>
          </p:nvPr>
        </p:nvSpPr>
        <p:spPr>
          <a:xfrm>
            <a:off x="275451" y="156400"/>
            <a:ext cx="18603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Introduction</a:t>
            </a:r>
            <a:endParaRPr sz="800">
              <a:solidFill>
                <a:schemeClr val="dk1"/>
              </a:solidFill>
            </a:endParaRPr>
          </a:p>
        </p:txBody>
      </p:sp>
      <p:sp>
        <p:nvSpPr>
          <p:cNvPr id="263" name="Google Shape;263;p35"/>
          <p:cNvSpPr txBox="1"/>
          <p:nvPr>
            <p:ph idx="1" type="body"/>
          </p:nvPr>
        </p:nvSpPr>
        <p:spPr>
          <a:xfrm>
            <a:off x="7087526" y="156400"/>
            <a:ext cx="1933500" cy="209100"/>
          </a:xfrm>
          <a:prstGeom prst="rect">
            <a:avLst/>
          </a:prstGeom>
        </p:spPr>
        <p:txBody>
          <a:bodyPr anchorCtr="0" anchor="t" bIns="91425" lIns="91425" spcFirstLastPara="1" rIns="91425" wrap="square" tIns="91425">
            <a:noAutofit/>
          </a:bodyPr>
          <a:lstStyle/>
          <a:p>
            <a:pPr indent="0" lvl="0" marL="0" rtl="0" algn="r">
              <a:lnSpc>
                <a:spcPct val="95000"/>
              </a:lnSpc>
              <a:spcBef>
                <a:spcPts val="0"/>
              </a:spcBef>
              <a:spcAft>
                <a:spcPts val="1200"/>
              </a:spcAft>
              <a:buSzPts val="275"/>
              <a:buNone/>
            </a:pPr>
            <a:r>
              <a:rPr lang="en" sz="800">
                <a:solidFill>
                  <a:schemeClr val="dk1"/>
                </a:solidFill>
              </a:rPr>
              <a:t>Data Mining</a:t>
            </a:r>
            <a:endParaRPr sz="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idx="1" type="body"/>
          </p:nvPr>
        </p:nvSpPr>
        <p:spPr>
          <a:xfrm>
            <a:off x="608400" y="1559700"/>
            <a:ext cx="7927200" cy="76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Course information data from University of Miami’s Student Information System was scrapped, </a:t>
            </a:r>
            <a:r>
              <a:rPr lang="en" sz="1400"/>
              <a:t>capturing</a:t>
            </a:r>
            <a:r>
              <a:rPr lang="en" sz="1400"/>
              <a:t> enrollment changes in real time for multiple semesters.</a:t>
            </a:r>
            <a:br>
              <a:rPr lang="en" sz="1400"/>
            </a:br>
            <a:r>
              <a:rPr lang="en" sz="1400"/>
              <a:t>We only analysed the exported dataset in CSV format from MongoDB time-series data cluster.</a:t>
            </a:r>
            <a:endParaRPr sz="1400"/>
          </a:p>
          <a:p>
            <a:pPr indent="0" lvl="0" marL="0" rtl="0" algn="l">
              <a:spcBef>
                <a:spcPts val="1200"/>
              </a:spcBef>
              <a:spcAft>
                <a:spcPts val="1200"/>
              </a:spcAft>
              <a:buNone/>
            </a:pPr>
            <a:r>
              <a:t/>
            </a:r>
            <a:endParaRPr sz="1400"/>
          </a:p>
        </p:txBody>
      </p:sp>
      <p:sp>
        <p:nvSpPr>
          <p:cNvPr id="269" name="Google Shape;269;p36"/>
          <p:cNvSpPr txBox="1"/>
          <p:nvPr>
            <p:ph type="title"/>
          </p:nvPr>
        </p:nvSpPr>
        <p:spPr>
          <a:xfrm>
            <a:off x="632350" y="614850"/>
            <a:ext cx="7455000" cy="652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Initial Database and Scrapping</a:t>
            </a:r>
            <a:endParaRPr/>
          </a:p>
        </p:txBody>
      </p:sp>
      <p:pic>
        <p:nvPicPr>
          <p:cNvPr id="270" name="Google Shape;270;p36" title="456767816-0b3d4e4a-c6c0-4883-8b25-0be368974fa8.png"/>
          <p:cNvPicPr preferRelativeResize="0"/>
          <p:nvPr>
            <p:ph idx="2" type="pic"/>
          </p:nvPr>
        </p:nvPicPr>
        <p:blipFill rotWithShape="1">
          <a:blip r:embed="rId3">
            <a:alphaModFix/>
          </a:blip>
          <a:srcRect b="73746" l="2680" r="-873" t="0"/>
          <a:stretch/>
        </p:blipFill>
        <p:spPr>
          <a:xfrm>
            <a:off x="632350" y="2571750"/>
            <a:ext cx="7927200" cy="1766400"/>
          </a:xfrm>
          <a:prstGeom prst="round2DiagRect">
            <a:avLst>
              <a:gd fmla="val 16667" name="adj1"/>
              <a:gd fmla="val 0" name="adj2"/>
            </a:avLst>
          </a:prstGeom>
        </p:spPr>
      </p:pic>
      <p:sp>
        <p:nvSpPr>
          <p:cNvPr id="271" name="Google Shape;271;p3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sp>
        <p:nvSpPr>
          <p:cNvPr id="272" name="Google Shape;272;p36"/>
          <p:cNvSpPr txBox="1"/>
          <p:nvPr>
            <p:ph idx="1" type="body"/>
          </p:nvPr>
        </p:nvSpPr>
        <p:spPr>
          <a:xfrm>
            <a:off x="275451" y="156400"/>
            <a:ext cx="18603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Introduction</a:t>
            </a:r>
            <a:endParaRPr sz="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Table of Contents</a:t>
            </a:r>
            <a:endParaRPr/>
          </a:p>
        </p:txBody>
      </p:sp>
      <p:sp>
        <p:nvSpPr>
          <p:cNvPr id="279" name="Google Shape;279;p37"/>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sp>
        <p:nvSpPr>
          <p:cNvPr id="280" name="Google Shape;280;p37"/>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 &amp; Motivation</a:t>
            </a:r>
            <a:endParaRPr b="1" sz="3650">
              <a:solidFill>
                <a:schemeClr val="accent2"/>
              </a:solidFill>
              <a:latin typeface="Merriweather"/>
              <a:ea typeface="Merriweather"/>
              <a:cs typeface="Merriweather"/>
              <a:sym typeface="Merriweather"/>
            </a:endParaRPr>
          </a:p>
        </p:txBody>
      </p:sp>
      <p:sp>
        <p:nvSpPr>
          <p:cNvPr id="281" name="Google Shape;281;p37"/>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Cleaning &amp; Preprocessing</a:t>
            </a:r>
            <a:endParaRPr b="1" sz="3650">
              <a:solidFill>
                <a:schemeClr val="dk1"/>
              </a:solidFill>
              <a:latin typeface="Merriweather"/>
              <a:ea typeface="Merriweather"/>
              <a:cs typeface="Merriweather"/>
              <a:sym typeface="Merriweather"/>
            </a:endParaRPr>
          </a:p>
        </p:txBody>
      </p:sp>
      <p:sp>
        <p:nvSpPr>
          <p:cNvPr id="282" name="Google Shape;282;p37"/>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Feature Engineering</a:t>
            </a:r>
            <a:endParaRPr b="1" sz="3650">
              <a:solidFill>
                <a:schemeClr val="accent2"/>
              </a:solidFill>
              <a:latin typeface="Merriweather"/>
              <a:ea typeface="Merriweather"/>
              <a:cs typeface="Merriweather"/>
              <a:sym typeface="Merriweather"/>
            </a:endParaRPr>
          </a:p>
        </p:txBody>
      </p:sp>
      <p:sp>
        <p:nvSpPr>
          <p:cNvPr id="283" name="Google Shape;283;p37"/>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Modeling</a:t>
            </a:r>
            <a:endParaRPr b="1" sz="3650">
              <a:solidFill>
                <a:schemeClr val="accent2"/>
              </a:solidFill>
              <a:latin typeface="Merriweather"/>
              <a:ea typeface="Merriweather"/>
              <a:cs typeface="Merriweather"/>
              <a:sym typeface="Merriweather"/>
            </a:endParaRPr>
          </a:p>
        </p:txBody>
      </p:sp>
      <p:sp>
        <p:nvSpPr>
          <p:cNvPr id="284" name="Google Shape;284;p37"/>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Conclusion</a:t>
            </a:r>
            <a:endParaRPr b="1" sz="3650">
              <a:solidFill>
                <a:schemeClr val="accent2"/>
              </a:solidFill>
              <a:latin typeface="Merriweather"/>
              <a:ea typeface="Merriweather"/>
              <a:cs typeface="Merriweather"/>
              <a:sym typeface="Merriweather"/>
            </a:endParaRPr>
          </a:p>
        </p:txBody>
      </p:sp>
      <p:sp>
        <p:nvSpPr>
          <p:cNvPr id="285" name="Google Shape;285;p37"/>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286" name="Google Shape;286;p37"/>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2.</a:t>
            </a:r>
            <a:endParaRPr b="1" sz="1450">
              <a:solidFill>
                <a:schemeClr val="dk1"/>
              </a:solidFill>
              <a:latin typeface="Merriweather"/>
              <a:ea typeface="Merriweather"/>
              <a:cs typeface="Merriweather"/>
              <a:sym typeface="Merriweather"/>
            </a:endParaRPr>
          </a:p>
        </p:txBody>
      </p:sp>
      <p:sp>
        <p:nvSpPr>
          <p:cNvPr id="287" name="Google Shape;287;p37"/>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288" name="Google Shape;288;p37"/>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289" name="Google Shape;289;p37"/>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8"/>
          <p:cNvSpPr txBox="1"/>
          <p:nvPr>
            <p:ph idx="1" type="body"/>
          </p:nvPr>
        </p:nvSpPr>
        <p:spPr>
          <a:xfrm>
            <a:off x="311700" y="1247125"/>
            <a:ext cx="8259900" cy="1026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400"/>
              <a:t>We imported the static course sections file, which contains one row per class with metadata such as subject, catalog number, capacity, and delivery mode and the time-series file, which tracks how the </a:t>
            </a:r>
            <a:r>
              <a:rPr lang="en" sz="1400"/>
              <a:t>enrollment  for </a:t>
            </a:r>
            <a:r>
              <a:rPr lang="en" sz="1400"/>
              <a:t>each </a:t>
            </a:r>
            <a:r>
              <a:rPr lang="en" sz="1400"/>
              <a:t>course</a:t>
            </a:r>
            <a:r>
              <a:rPr lang="en" sz="1400"/>
              <a:t> changes over time as open seats are taken.</a:t>
            </a:r>
            <a:endParaRPr sz="1400"/>
          </a:p>
        </p:txBody>
      </p:sp>
      <p:sp>
        <p:nvSpPr>
          <p:cNvPr id="295" name="Google Shape;29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Dataset Overview</a:t>
            </a:r>
            <a:endParaRPr/>
          </a:p>
        </p:txBody>
      </p:sp>
      <p:pic>
        <p:nvPicPr>
          <p:cNvPr id="296" name="Google Shape;296;p38"/>
          <p:cNvPicPr preferRelativeResize="0"/>
          <p:nvPr/>
        </p:nvPicPr>
        <p:blipFill rotWithShape="1">
          <a:blip r:embed="rId3">
            <a:alphaModFix/>
          </a:blip>
          <a:srcRect b="0" l="0" r="0" t="13502"/>
          <a:stretch/>
        </p:blipFill>
        <p:spPr>
          <a:xfrm>
            <a:off x="1960625" y="2161000"/>
            <a:ext cx="6812451" cy="2651499"/>
          </a:xfrm>
          <a:prstGeom prst="rect">
            <a:avLst/>
          </a:prstGeom>
          <a:noFill/>
          <a:ln>
            <a:noFill/>
          </a:ln>
        </p:spPr>
      </p:pic>
      <p:sp>
        <p:nvSpPr>
          <p:cNvPr id="297" name="Google Shape;297;p38"/>
          <p:cNvSpPr txBox="1"/>
          <p:nvPr>
            <p:ph idx="1" type="body"/>
          </p:nvPr>
        </p:nvSpPr>
        <p:spPr>
          <a:xfrm>
            <a:off x="408475" y="2999600"/>
            <a:ext cx="1397700" cy="4149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sz="1600"/>
              <a:t>Initial State:</a:t>
            </a:r>
            <a:endParaRPr b="1" sz="1600"/>
          </a:p>
        </p:txBody>
      </p:sp>
      <p:sp>
        <p:nvSpPr>
          <p:cNvPr id="298" name="Google Shape;298;p38"/>
          <p:cNvSpPr txBox="1"/>
          <p:nvPr>
            <p:ph idx="4294967295" type="body"/>
          </p:nvPr>
        </p:nvSpPr>
        <p:spPr>
          <a:xfrm>
            <a:off x="275451" y="156400"/>
            <a:ext cx="18603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Processing</a:t>
            </a:r>
            <a:endParaRPr sz="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nvSpPr>
        <p:spPr>
          <a:xfrm>
            <a:off x="2120700" y="334250"/>
            <a:ext cx="65601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a:ea typeface="DM Sans"/>
                <a:cs typeface="DM Sans"/>
                <a:sym typeface="DM Sans"/>
              </a:rPr>
              <a:t>We removed empty, irrelevant, or low-quality columns/rows from both datasets and save the cleaned versions for downstream analysis.</a:t>
            </a:r>
            <a:br>
              <a:rPr lang="en">
                <a:latin typeface="DM Sans"/>
                <a:ea typeface="DM Sans"/>
                <a:cs typeface="DM Sans"/>
                <a:sym typeface="DM Sans"/>
              </a:rPr>
            </a:br>
            <a:endParaRPr>
              <a:latin typeface="DM Sans"/>
              <a:ea typeface="DM Sans"/>
              <a:cs typeface="DM Sans"/>
              <a:sym typeface="DM Sans"/>
            </a:endParaRPr>
          </a:p>
          <a:p>
            <a:pPr indent="0" lvl="0" marL="0" rtl="0" algn="l">
              <a:spcBef>
                <a:spcPts val="0"/>
              </a:spcBef>
              <a:spcAft>
                <a:spcPts val="0"/>
              </a:spcAft>
              <a:buNone/>
            </a:pPr>
            <a:r>
              <a:rPr lang="en">
                <a:latin typeface="DM Sans"/>
                <a:ea typeface="DM Sans"/>
                <a:cs typeface="DM Sans"/>
                <a:sym typeface="DM Sans"/>
              </a:rPr>
              <a:t>Section CSV size reduced from 13.5MB to 3.5MB and </a:t>
            </a:r>
            <a:r>
              <a:rPr lang="en">
                <a:latin typeface="DM Sans"/>
                <a:ea typeface="DM Sans"/>
                <a:cs typeface="DM Sans"/>
                <a:sym typeface="DM Sans"/>
              </a:rPr>
              <a:t>time series CSV by 3MB</a:t>
            </a:r>
            <a:br>
              <a:rPr lang="en">
                <a:latin typeface="DM Sans"/>
                <a:ea typeface="DM Sans"/>
                <a:cs typeface="DM Sans"/>
                <a:sym typeface="DM Sans"/>
              </a:rPr>
            </a:br>
            <a:endParaRPr>
              <a:latin typeface="DM Sans"/>
              <a:ea typeface="DM Sans"/>
              <a:cs typeface="DM Sans"/>
              <a:sym typeface="DM Sans"/>
            </a:endParaRPr>
          </a:p>
        </p:txBody>
      </p:sp>
      <p:pic>
        <p:nvPicPr>
          <p:cNvPr id="304" name="Google Shape;304;p39" title="Screenshot 2025-12-04 at 1.56.43 AM.png"/>
          <p:cNvPicPr preferRelativeResize="0"/>
          <p:nvPr/>
        </p:nvPicPr>
        <p:blipFill rotWithShape="1">
          <a:blip r:embed="rId3">
            <a:alphaModFix/>
          </a:blip>
          <a:srcRect b="0" l="0" r="0" t="0"/>
          <a:stretch/>
        </p:blipFill>
        <p:spPr>
          <a:xfrm>
            <a:off x="197375" y="1566408"/>
            <a:ext cx="8607000" cy="3429018"/>
          </a:xfrm>
          <a:prstGeom prst="rect">
            <a:avLst/>
          </a:prstGeom>
          <a:noFill/>
          <a:ln>
            <a:noFill/>
          </a:ln>
        </p:spPr>
      </p:pic>
      <p:sp>
        <p:nvSpPr>
          <p:cNvPr id="305" name="Google Shape;305;p39"/>
          <p:cNvSpPr txBox="1"/>
          <p:nvPr>
            <p:ph idx="4294967295" type="body"/>
          </p:nvPr>
        </p:nvSpPr>
        <p:spPr>
          <a:xfrm>
            <a:off x="275450" y="473875"/>
            <a:ext cx="1397700" cy="668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sz="1600"/>
              <a:t>Final</a:t>
            </a:r>
            <a:r>
              <a:rPr b="1" lang="en" sz="1600"/>
              <a:t> State:</a:t>
            </a:r>
            <a:endParaRPr b="1" sz="1600"/>
          </a:p>
        </p:txBody>
      </p:sp>
      <p:sp>
        <p:nvSpPr>
          <p:cNvPr id="306" name="Google Shape;306;p39"/>
          <p:cNvSpPr txBox="1"/>
          <p:nvPr>
            <p:ph idx="4294967295" type="body"/>
          </p:nvPr>
        </p:nvSpPr>
        <p:spPr>
          <a:xfrm>
            <a:off x="275451" y="156400"/>
            <a:ext cx="18603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Processing</a:t>
            </a:r>
            <a:endParaRPr sz="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0"/>
          <p:cNvSpPr txBox="1"/>
          <p:nvPr/>
        </p:nvSpPr>
        <p:spPr>
          <a:xfrm>
            <a:off x="467675" y="1205850"/>
            <a:ext cx="59349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a:ea typeface="DM Sans"/>
                <a:cs typeface="DM Sans"/>
                <a:sym typeface="DM Sans"/>
              </a:rPr>
              <a:t>A</a:t>
            </a:r>
            <a:r>
              <a:rPr lang="en">
                <a:latin typeface="DM Sans"/>
                <a:ea typeface="DM Sans"/>
                <a:cs typeface="DM Sans"/>
                <a:sym typeface="DM Sans"/>
              </a:rPr>
              <a:t> data quality report summarizing row/column counts, duplicates, and identify 31 fully empty columns that can be safely ignored.</a:t>
            </a:r>
            <a:br>
              <a:rPr lang="en">
                <a:latin typeface="DM Sans"/>
                <a:ea typeface="DM Sans"/>
                <a:cs typeface="DM Sans"/>
                <a:sym typeface="DM Sans"/>
              </a:rPr>
            </a:br>
            <a:br>
              <a:rPr lang="en">
                <a:latin typeface="DM Sans"/>
                <a:ea typeface="DM Sans"/>
                <a:cs typeface="DM Sans"/>
                <a:sym typeface="DM Sans"/>
              </a:rPr>
            </a:br>
            <a:r>
              <a:rPr lang="en">
                <a:latin typeface="DM Sans"/>
                <a:ea typeface="DM Sans"/>
                <a:cs typeface="DM Sans"/>
                <a:sym typeface="DM Sans"/>
              </a:rPr>
              <a:t>  </a:t>
            </a:r>
            <a:r>
              <a:rPr lang="en" u="sng">
                <a:latin typeface="DM Sans"/>
                <a:ea typeface="DM Sans"/>
                <a:cs typeface="DM Sans"/>
                <a:sym typeface="DM Sans"/>
              </a:rPr>
              <a:t>Data Validation Checks</a:t>
            </a:r>
            <a:endParaRPr u="sng">
              <a:latin typeface="DM Sans"/>
              <a:ea typeface="DM Sans"/>
              <a:cs typeface="DM Sans"/>
              <a:sym typeface="DM Sans"/>
            </a:endParaRPr>
          </a:p>
          <a:p>
            <a:pPr indent="0" lvl="0" marL="0" rtl="0" algn="l">
              <a:spcBef>
                <a:spcPts val="0"/>
              </a:spcBef>
              <a:spcAft>
                <a:spcPts val="0"/>
              </a:spcAft>
              <a:buClr>
                <a:schemeClr val="hlink"/>
              </a:buClr>
              <a:buSzPts val="1100"/>
              <a:buFont typeface="Arial"/>
              <a:buNone/>
            </a:pPr>
            <a:r>
              <a:rPr lang="en">
                <a:latin typeface="DM Sans"/>
                <a:ea typeface="DM Sans"/>
                <a:cs typeface="DM Sans"/>
                <a:sym typeface="DM Sans"/>
              </a:rPr>
              <a:t>  1. All id values are unique (7513 unique values)</a:t>
            </a:r>
            <a:endParaRPr>
              <a:latin typeface="DM Sans"/>
              <a:ea typeface="DM Sans"/>
              <a:cs typeface="DM Sans"/>
              <a:sym typeface="DM Sans"/>
            </a:endParaRPr>
          </a:p>
          <a:p>
            <a:pPr indent="0" lvl="0" marL="0" rtl="0" algn="l">
              <a:spcBef>
                <a:spcPts val="0"/>
              </a:spcBef>
              <a:spcAft>
                <a:spcPts val="0"/>
              </a:spcAft>
              <a:buClr>
                <a:schemeClr val="hlink"/>
              </a:buClr>
              <a:buSzPts val="1100"/>
              <a:buFont typeface="Arial"/>
              <a:buNone/>
            </a:pPr>
            <a:r>
              <a:rPr lang="en">
                <a:latin typeface="DM Sans"/>
                <a:ea typeface="DM Sans"/>
                <a:cs typeface="DM Sans"/>
                <a:sym typeface="DM Sans"/>
              </a:rPr>
              <a:t>  2. academicCareer</a:t>
            </a:r>
            <a:r>
              <a:rPr lang="en">
                <a:latin typeface="DM Sans"/>
                <a:ea typeface="DM Sans"/>
                <a:cs typeface="DM Sans"/>
                <a:sym typeface="DM Sans"/>
              </a:rPr>
              <a:t> values are all</a:t>
            </a:r>
            <a:r>
              <a:rPr lang="en">
                <a:latin typeface="DM Sans"/>
                <a:ea typeface="DM Sans"/>
                <a:cs typeface="DM Sans"/>
                <a:sym typeface="DM Sans"/>
              </a:rPr>
              <a:t> either 'Graduate', or ‘Undergraduate'</a:t>
            </a:r>
            <a:endParaRPr>
              <a:latin typeface="DM Sans"/>
              <a:ea typeface="DM Sans"/>
              <a:cs typeface="DM Sans"/>
              <a:sym typeface="DM Sans"/>
            </a:endParaRPr>
          </a:p>
          <a:p>
            <a:pPr indent="0" lvl="0" marL="0" rtl="0" algn="l">
              <a:spcBef>
                <a:spcPts val="0"/>
              </a:spcBef>
              <a:spcAft>
                <a:spcPts val="0"/>
              </a:spcAft>
              <a:buClr>
                <a:schemeClr val="hlink"/>
              </a:buClr>
              <a:buSzPts val="1100"/>
              <a:buFont typeface="Arial"/>
              <a:buNone/>
            </a:pPr>
            <a:r>
              <a:rPr lang="en">
                <a:latin typeface="DM Sans"/>
                <a:ea typeface="DM Sans"/>
                <a:cs typeface="DM Sans"/>
                <a:sym typeface="DM Sans"/>
              </a:rPr>
              <a:t>  3. year value are all '2025'</a:t>
            </a:r>
            <a:endParaRPr>
              <a:latin typeface="DM Sans"/>
              <a:ea typeface="DM Sans"/>
              <a:cs typeface="DM Sans"/>
              <a:sym typeface="DM Sans"/>
            </a:endParaRPr>
          </a:p>
          <a:p>
            <a:pPr indent="0" lvl="0" marL="0" rtl="0" algn="l">
              <a:spcBef>
                <a:spcPts val="0"/>
              </a:spcBef>
              <a:spcAft>
                <a:spcPts val="0"/>
              </a:spcAft>
              <a:buNone/>
            </a:pPr>
            <a:r>
              <a:rPr lang="en">
                <a:latin typeface="DM Sans"/>
                <a:ea typeface="DM Sans"/>
                <a:cs typeface="DM Sans"/>
                <a:sym typeface="DM Sans"/>
              </a:rPr>
              <a:t>  4. semester value are all 'Spring'</a:t>
            </a:r>
            <a:endParaRPr>
              <a:latin typeface="DM Sans"/>
              <a:ea typeface="DM Sans"/>
              <a:cs typeface="DM Sans"/>
              <a:sym typeface="DM Sans"/>
            </a:endParaRPr>
          </a:p>
        </p:txBody>
      </p:sp>
      <p:pic>
        <p:nvPicPr>
          <p:cNvPr id="312" name="Google Shape;312;p40" title="Screenshot 2025-12-04 at 2.06.15 AM.png"/>
          <p:cNvPicPr preferRelativeResize="0"/>
          <p:nvPr/>
        </p:nvPicPr>
        <p:blipFill>
          <a:blip r:embed="rId3">
            <a:alphaModFix/>
          </a:blip>
          <a:stretch>
            <a:fillRect/>
          </a:stretch>
        </p:blipFill>
        <p:spPr>
          <a:xfrm>
            <a:off x="5135110" y="2878938"/>
            <a:ext cx="3533116" cy="831300"/>
          </a:xfrm>
          <a:prstGeom prst="rect">
            <a:avLst/>
          </a:prstGeom>
          <a:noFill/>
          <a:ln>
            <a:noFill/>
          </a:ln>
        </p:spPr>
      </p:pic>
      <p:pic>
        <p:nvPicPr>
          <p:cNvPr id="313" name="Google Shape;313;p40" title="Screenshot 2025-12-04 at 2.11.19 AM.png"/>
          <p:cNvPicPr preferRelativeResize="0"/>
          <p:nvPr/>
        </p:nvPicPr>
        <p:blipFill rotWithShape="1">
          <a:blip r:embed="rId4">
            <a:alphaModFix/>
          </a:blip>
          <a:srcRect b="0" l="0" r="0" t="0"/>
          <a:stretch/>
        </p:blipFill>
        <p:spPr>
          <a:xfrm>
            <a:off x="6362101" y="447750"/>
            <a:ext cx="2306125" cy="2306150"/>
          </a:xfrm>
          <a:prstGeom prst="rect">
            <a:avLst/>
          </a:prstGeom>
          <a:noFill/>
          <a:ln>
            <a:noFill/>
          </a:ln>
        </p:spPr>
      </p:pic>
      <p:pic>
        <p:nvPicPr>
          <p:cNvPr id="314" name="Google Shape;314;p40" title="Screenshot 2025-12-04 at 2.16.44 AM.png"/>
          <p:cNvPicPr preferRelativeResize="0"/>
          <p:nvPr/>
        </p:nvPicPr>
        <p:blipFill>
          <a:blip r:embed="rId5">
            <a:alphaModFix/>
          </a:blip>
          <a:stretch>
            <a:fillRect/>
          </a:stretch>
        </p:blipFill>
        <p:spPr>
          <a:xfrm>
            <a:off x="467675" y="3835266"/>
            <a:ext cx="8200550" cy="1128910"/>
          </a:xfrm>
          <a:prstGeom prst="rect">
            <a:avLst/>
          </a:prstGeom>
          <a:noFill/>
          <a:ln>
            <a:noFill/>
          </a:ln>
        </p:spPr>
      </p:pic>
      <p:sp>
        <p:nvSpPr>
          <p:cNvPr id="315" name="Google Shape;315;p40"/>
          <p:cNvSpPr txBox="1"/>
          <p:nvPr>
            <p:ph idx="4294967295" type="title"/>
          </p:nvPr>
        </p:nvSpPr>
        <p:spPr>
          <a:xfrm>
            <a:off x="475650" y="447750"/>
            <a:ext cx="8184600" cy="75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Data Validation Report</a:t>
            </a:r>
            <a:endParaRPr sz="3000"/>
          </a:p>
        </p:txBody>
      </p:sp>
      <p:sp>
        <p:nvSpPr>
          <p:cNvPr id="316" name="Google Shape;316;p40"/>
          <p:cNvSpPr txBox="1"/>
          <p:nvPr>
            <p:ph idx="4294967295" type="body"/>
          </p:nvPr>
        </p:nvSpPr>
        <p:spPr>
          <a:xfrm>
            <a:off x="275451" y="156400"/>
            <a:ext cx="18603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Processing</a:t>
            </a:r>
            <a:endParaRPr sz="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idx="2" type="body"/>
          </p:nvPr>
        </p:nvSpPr>
        <p:spPr>
          <a:xfrm>
            <a:off x="4656525" y="1773843"/>
            <a:ext cx="3838500" cy="113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Merging incorrect column names into the correct field</a:t>
            </a:r>
            <a:br>
              <a:rPr lang="en"/>
            </a:br>
            <a:r>
              <a:rPr lang="en"/>
              <a:t>(i.e. </a:t>
            </a:r>
            <a:r>
              <a:rPr b="1" lang="en"/>
              <a:t>wailistAvailable</a:t>
            </a:r>
            <a:r>
              <a:rPr lang="en"/>
              <a:t> -&gt; </a:t>
            </a:r>
            <a:r>
              <a:rPr b="1" lang="en"/>
              <a:t>waitlistAvailable</a:t>
            </a:r>
            <a:r>
              <a:rPr lang="en"/>
              <a:t>)</a:t>
            </a:r>
            <a:endParaRPr/>
          </a:p>
        </p:txBody>
      </p:sp>
      <p:sp>
        <p:nvSpPr>
          <p:cNvPr id="322" name="Google Shape;322;p41"/>
          <p:cNvSpPr txBox="1"/>
          <p:nvPr>
            <p:ph idx="1" type="body"/>
          </p:nvPr>
        </p:nvSpPr>
        <p:spPr>
          <a:xfrm>
            <a:off x="640900" y="1773850"/>
            <a:ext cx="3261900" cy="113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Restricted analysis to Spring 2025 semester</a:t>
            </a:r>
            <a:endParaRPr/>
          </a:p>
        </p:txBody>
      </p:sp>
      <p:sp>
        <p:nvSpPr>
          <p:cNvPr id="323" name="Google Shape;323;p41"/>
          <p:cNvSpPr txBox="1"/>
          <p:nvPr>
            <p:ph idx="3" type="body"/>
          </p:nvPr>
        </p:nvSpPr>
        <p:spPr>
          <a:xfrm>
            <a:off x="640925" y="3393550"/>
            <a:ext cx="3838500" cy="113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Ordered data for time-series analysis</a:t>
            </a:r>
            <a:br>
              <a:rPr lang="en"/>
            </a:br>
            <a:r>
              <a:rPr lang="en"/>
              <a:t>- Grouped by </a:t>
            </a:r>
            <a:r>
              <a:rPr b="1" lang="en"/>
              <a:t>classNumber</a:t>
            </a:r>
            <a:br>
              <a:rPr lang="en"/>
            </a:br>
            <a:r>
              <a:rPr lang="en"/>
              <a:t>- Sorted by </a:t>
            </a:r>
            <a:r>
              <a:rPr b="1" lang="en"/>
              <a:t>dateTimeRetrieved</a:t>
            </a:r>
            <a:endParaRPr b="1"/>
          </a:p>
        </p:txBody>
      </p:sp>
      <p:sp>
        <p:nvSpPr>
          <p:cNvPr id="324" name="Google Shape;324;p41"/>
          <p:cNvSpPr txBox="1"/>
          <p:nvPr>
            <p:ph idx="4" type="body"/>
          </p:nvPr>
        </p:nvSpPr>
        <p:spPr>
          <a:xfrm>
            <a:off x="4656550" y="3393550"/>
            <a:ext cx="3838500" cy="113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Unique Course Sections: </a:t>
            </a:r>
            <a:r>
              <a:rPr lang="en"/>
              <a:t>7,513</a:t>
            </a:r>
            <a:br>
              <a:rPr lang="en"/>
            </a:br>
            <a:r>
              <a:rPr lang="en"/>
              <a:t>Time-Series Observations: 1,060,659</a:t>
            </a:r>
            <a:endParaRPr/>
          </a:p>
        </p:txBody>
      </p:sp>
      <p:sp>
        <p:nvSpPr>
          <p:cNvPr id="325" name="Google Shape;325;p41"/>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Cleaning &amp; Cohort Selection</a:t>
            </a:r>
            <a:endParaRPr/>
          </a:p>
        </p:txBody>
      </p:sp>
      <p:sp>
        <p:nvSpPr>
          <p:cNvPr id="326" name="Google Shape;326;p41"/>
          <p:cNvSpPr txBox="1"/>
          <p:nvPr>
            <p:ph idx="5" type="subTitle"/>
          </p:nvPr>
        </p:nvSpPr>
        <p:spPr>
          <a:xfrm>
            <a:off x="640938" y="1292657"/>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Cohort Filtering</a:t>
            </a:r>
            <a:endParaRPr/>
          </a:p>
        </p:txBody>
      </p:sp>
      <p:sp>
        <p:nvSpPr>
          <p:cNvPr id="327" name="Google Shape;327;p41"/>
          <p:cNvSpPr txBox="1"/>
          <p:nvPr>
            <p:ph idx="6" type="subTitle"/>
          </p:nvPr>
        </p:nvSpPr>
        <p:spPr>
          <a:xfrm>
            <a:off x="4656538" y="1292657"/>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Quality Repair</a:t>
            </a:r>
            <a:endParaRPr/>
          </a:p>
        </p:txBody>
      </p:sp>
      <p:sp>
        <p:nvSpPr>
          <p:cNvPr id="328" name="Google Shape;328;p41"/>
          <p:cNvSpPr txBox="1"/>
          <p:nvPr>
            <p:ph idx="7" type="subTitle"/>
          </p:nvPr>
        </p:nvSpPr>
        <p:spPr>
          <a:xfrm>
            <a:off x="4656561" y="2912338"/>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Dimensions</a:t>
            </a:r>
            <a:endParaRPr/>
          </a:p>
        </p:txBody>
      </p:sp>
      <p:sp>
        <p:nvSpPr>
          <p:cNvPr id="329" name="Google Shape;329;p41"/>
          <p:cNvSpPr txBox="1"/>
          <p:nvPr>
            <p:ph idx="8" type="subTitle"/>
          </p:nvPr>
        </p:nvSpPr>
        <p:spPr>
          <a:xfrm>
            <a:off x="640925" y="2912338"/>
            <a:ext cx="3838500" cy="4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Temporal Structuring</a:t>
            </a:r>
            <a:endParaRPr/>
          </a:p>
        </p:txBody>
      </p:sp>
      <p:sp>
        <p:nvSpPr>
          <p:cNvPr id="330" name="Google Shape;330;p41"/>
          <p:cNvSpPr txBox="1"/>
          <p:nvPr>
            <p:ph idx="2" type="body"/>
          </p:nvPr>
        </p:nvSpPr>
        <p:spPr>
          <a:xfrm>
            <a:off x="275451" y="156400"/>
            <a:ext cx="18603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Processing</a:t>
            </a:r>
            <a:endParaRPr sz="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Quality and Aggregation</a:t>
            </a:r>
            <a:endParaRPr/>
          </a:p>
        </p:txBody>
      </p:sp>
      <p:sp>
        <p:nvSpPr>
          <p:cNvPr id="336" name="Google Shape;336;p42"/>
          <p:cNvSpPr txBox="1"/>
          <p:nvPr>
            <p:ph idx="2" type="body"/>
          </p:nvPr>
        </p:nvSpPr>
        <p:spPr>
          <a:xfrm>
            <a:off x="4572000" y="1241175"/>
            <a:ext cx="43599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Intersection Merge strategy</a:t>
            </a:r>
            <a:endParaRPr sz="1600"/>
          </a:p>
          <a:p>
            <a:pPr indent="-317500" lvl="1" marL="914400" rtl="0" algn="l">
              <a:spcBef>
                <a:spcPts val="0"/>
              </a:spcBef>
              <a:spcAft>
                <a:spcPts val="0"/>
              </a:spcAft>
              <a:buSzPts val="1400"/>
              <a:buChar char="-"/>
            </a:pPr>
            <a:r>
              <a:rPr lang="en" sz="1400"/>
              <a:t>Keys: </a:t>
            </a:r>
            <a:r>
              <a:rPr b="1" lang="en" sz="1400"/>
              <a:t>classNumber</a:t>
            </a:r>
            <a:r>
              <a:rPr lang="en" sz="1400"/>
              <a:t> + </a:t>
            </a:r>
            <a:r>
              <a:rPr b="1" lang="en" sz="1400"/>
              <a:t>semester</a:t>
            </a:r>
            <a:r>
              <a:rPr lang="en" sz="1400"/>
              <a:t> + </a:t>
            </a:r>
            <a:r>
              <a:rPr b="1" lang="en" sz="1400"/>
              <a:t>year</a:t>
            </a:r>
            <a:endParaRPr b="1" sz="1400"/>
          </a:p>
          <a:p>
            <a:pPr indent="-317500" lvl="1" marL="914400" rtl="0" algn="l">
              <a:spcBef>
                <a:spcPts val="0"/>
              </a:spcBef>
              <a:spcAft>
                <a:spcPts val="0"/>
              </a:spcAft>
              <a:buSzPts val="1400"/>
              <a:buChar char="-"/>
            </a:pPr>
            <a:r>
              <a:rPr lang="en" sz="1400"/>
              <a:t>Aligning static details with the dynamic logs of enrollment</a:t>
            </a:r>
            <a:endParaRPr sz="1400"/>
          </a:p>
          <a:p>
            <a:pPr indent="-330200" lvl="0" marL="457200" rtl="0" algn="l">
              <a:spcBef>
                <a:spcPts val="0"/>
              </a:spcBef>
              <a:spcAft>
                <a:spcPts val="0"/>
              </a:spcAft>
              <a:buSzPts val="1600"/>
              <a:buChar char="-"/>
            </a:pPr>
            <a:r>
              <a:rPr lang="en" sz="1600"/>
              <a:t>Overlapping columns are renamed with a suffix (-TS), preserving the original and new dynamic polling history</a:t>
            </a:r>
            <a:endParaRPr sz="1600"/>
          </a:p>
          <a:p>
            <a:pPr indent="-330200" lvl="0" marL="457200" rtl="0" algn="l">
              <a:spcBef>
                <a:spcPts val="0"/>
              </a:spcBef>
              <a:spcAft>
                <a:spcPts val="0"/>
              </a:spcAft>
              <a:buSzPts val="1600"/>
              <a:buChar char="-"/>
            </a:pPr>
            <a:r>
              <a:rPr lang="en" sz="1600"/>
              <a:t>Nested Data Structure construction</a:t>
            </a:r>
            <a:endParaRPr sz="1600"/>
          </a:p>
          <a:p>
            <a:pPr indent="-317500" lvl="1" marL="914400" rtl="0" algn="l">
              <a:spcBef>
                <a:spcPts val="0"/>
              </a:spcBef>
              <a:spcAft>
                <a:spcPts val="0"/>
              </a:spcAft>
              <a:buSzPts val="1400"/>
              <a:buChar char="-"/>
            </a:pPr>
            <a:r>
              <a:rPr b="1" lang="en" sz="1400"/>
              <a:t>seatsAvailable</a:t>
            </a:r>
            <a:r>
              <a:rPr lang="en" sz="1400"/>
              <a:t> becomes [45, 45, 44, …]</a:t>
            </a:r>
            <a:endParaRPr/>
          </a:p>
        </p:txBody>
      </p:sp>
      <p:sp>
        <p:nvSpPr>
          <p:cNvPr id="337" name="Google Shape;337;p42"/>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Reporting Engine to profile time-series observations and static records</a:t>
            </a:r>
            <a:endParaRPr sz="1600"/>
          </a:p>
          <a:p>
            <a:pPr indent="-330200" lvl="0" marL="457200" rtl="0" algn="l">
              <a:spcBef>
                <a:spcPts val="0"/>
              </a:spcBef>
              <a:spcAft>
                <a:spcPts val="0"/>
              </a:spcAft>
              <a:buSzPts val="1600"/>
              <a:buChar char="-"/>
            </a:pPr>
            <a:r>
              <a:rPr lang="en" sz="1600"/>
              <a:t>Ensured </a:t>
            </a:r>
            <a:r>
              <a:rPr b="1" lang="en" sz="1600"/>
              <a:t>dateTimeRetrieved</a:t>
            </a:r>
            <a:r>
              <a:rPr lang="en" sz="1600"/>
              <a:t> is </a:t>
            </a:r>
            <a:r>
              <a:rPr i="1" lang="en" sz="1600"/>
              <a:t>increasing </a:t>
            </a:r>
            <a:r>
              <a:rPr lang="en" sz="1600"/>
              <a:t>for every course</a:t>
            </a:r>
            <a:endParaRPr sz="1600"/>
          </a:p>
          <a:p>
            <a:pPr indent="-330200" lvl="0" marL="457200" rtl="0" algn="l">
              <a:spcBef>
                <a:spcPts val="0"/>
              </a:spcBef>
              <a:spcAft>
                <a:spcPts val="0"/>
              </a:spcAft>
              <a:buSzPts val="1600"/>
              <a:buChar char="-"/>
            </a:pPr>
            <a:r>
              <a:rPr lang="en" sz="1600"/>
              <a:t>100% Uniqueness of Course and Section IDs</a:t>
            </a:r>
            <a:endParaRPr sz="1600"/>
          </a:p>
          <a:p>
            <a:pPr indent="-330200" lvl="0" marL="457200" rtl="0" algn="l">
              <a:spcBef>
                <a:spcPts val="0"/>
              </a:spcBef>
              <a:spcAft>
                <a:spcPts val="0"/>
              </a:spcAft>
              <a:buSzPts val="1600"/>
              <a:buChar char="-"/>
            </a:pPr>
            <a:r>
              <a:rPr lang="en" sz="1600"/>
              <a:t> Removal of 31 empty columns, reducing dimensionality</a:t>
            </a:r>
            <a:endParaRPr sz="1600"/>
          </a:p>
          <a:p>
            <a:pPr indent="-317500" lvl="1" marL="914400" rtl="0" algn="l">
              <a:spcBef>
                <a:spcPts val="0"/>
              </a:spcBef>
              <a:spcAft>
                <a:spcPts val="0"/>
              </a:spcAft>
              <a:buSzPts val="1400"/>
              <a:buChar char="-"/>
            </a:pPr>
            <a:r>
              <a:rPr lang="en" sz="1400"/>
              <a:t>Unused instructor slots</a:t>
            </a:r>
            <a:endParaRPr sz="1400"/>
          </a:p>
          <a:p>
            <a:pPr indent="-317500" lvl="1" marL="914400" rtl="0" algn="l">
              <a:spcBef>
                <a:spcPts val="0"/>
              </a:spcBef>
              <a:spcAft>
                <a:spcPts val="0"/>
              </a:spcAft>
              <a:buSzPts val="1400"/>
              <a:buChar char="-"/>
            </a:pPr>
            <a:r>
              <a:rPr lang="en" sz="1400"/>
              <a:t>Incorrect calendar fields</a:t>
            </a:r>
            <a:endParaRPr/>
          </a:p>
        </p:txBody>
      </p:sp>
      <p:sp>
        <p:nvSpPr>
          <p:cNvPr id="338" name="Google Shape;338;p42"/>
          <p:cNvSpPr txBox="1"/>
          <p:nvPr>
            <p:ph idx="1" type="body"/>
          </p:nvPr>
        </p:nvSpPr>
        <p:spPr>
          <a:xfrm>
            <a:off x="275451" y="156400"/>
            <a:ext cx="18603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Processing</a:t>
            </a:r>
            <a:endParaRPr sz="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3"/>
          <p:cNvSpPr txBox="1"/>
          <p:nvPr>
            <p:ph idx="1" type="body"/>
          </p:nvPr>
        </p:nvSpPr>
        <p:spPr>
          <a:xfrm>
            <a:off x="1039825" y="4310100"/>
            <a:ext cx="7064400" cy="833400"/>
          </a:xfrm>
          <a:prstGeom prst="rect">
            <a:avLst/>
          </a:prstGeom>
        </p:spPr>
        <p:txBody>
          <a:bodyPr anchorCtr="0" anchor="t" bIns="91425" lIns="91425" spcFirstLastPara="1" rIns="91425" wrap="square" tIns="91425">
            <a:normAutofit lnSpcReduction="20000"/>
          </a:bodyPr>
          <a:lstStyle/>
          <a:p>
            <a:pPr indent="-330200" lvl="0" marL="457200" rtl="0" algn="l">
              <a:spcBef>
                <a:spcPts val="0"/>
              </a:spcBef>
              <a:spcAft>
                <a:spcPts val="0"/>
              </a:spcAft>
              <a:buSzPts val="1600"/>
              <a:buChar char="-"/>
            </a:pPr>
            <a:r>
              <a:rPr lang="en" sz="1600"/>
              <a:t>Noise Reduction</a:t>
            </a:r>
            <a:endParaRPr sz="1600"/>
          </a:p>
          <a:p>
            <a:pPr indent="-317500" lvl="1" marL="914400" rtl="0" algn="l">
              <a:spcBef>
                <a:spcPts val="0"/>
              </a:spcBef>
              <a:spcAft>
                <a:spcPts val="0"/>
              </a:spcAft>
              <a:buSzPts val="1400"/>
              <a:buChar char="-"/>
            </a:pPr>
            <a:r>
              <a:rPr lang="en" sz="1400"/>
              <a:t>Ghost/Cancelled courses removed to prevent model bias</a:t>
            </a:r>
            <a:endParaRPr sz="1400"/>
          </a:p>
          <a:p>
            <a:pPr indent="-317500" lvl="1" marL="914400" rtl="0" algn="l">
              <a:spcBef>
                <a:spcPts val="0"/>
              </a:spcBef>
              <a:spcAft>
                <a:spcPts val="0"/>
              </a:spcAft>
              <a:buSzPts val="1400"/>
              <a:buChar char="-"/>
            </a:pPr>
            <a:r>
              <a:rPr lang="en" sz="1400"/>
              <a:t>5,612 active courses with 798,136 time-series observations</a:t>
            </a:r>
            <a:endParaRPr/>
          </a:p>
        </p:txBody>
      </p:sp>
      <p:sp>
        <p:nvSpPr>
          <p:cNvPr id="344" name="Google Shape;344;p43"/>
          <p:cNvSpPr txBox="1"/>
          <p:nvPr>
            <p:ph type="title"/>
          </p:nvPr>
        </p:nvSpPr>
        <p:spPr>
          <a:xfrm>
            <a:off x="1909663" y="196450"/>
            <a:ext cx="5324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Cleaned Dataset Overview</a:t>
            </a:r>
            <a:endParaRPr/>
          </a:p>
        </p:txBody>
      </p:sp>
      <p:pic>
        <p:nvPicPr>
          <p:cNvPr id="345" name="Google Shape;345;p43"/>
          <p:cNvPicPr preferRelativeResize="0"/>
          <p:nvPr/>
        </p:nvPicPr>
        <p:blipFill>
          <a:blip r:embed="rId3">
            <a:alphaModFix/>
          </a:blip>
          <a:stretch>
            <a:fillRect/>
          </a:stretch>
        </p:blipFill>
        <p:spPr>
          <a:xfrm>
            <a:off x="1646677" y="769150"/>
            <a:ext cx="5651824" cy="3540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4"/>
          <p:cNvSpPr txBox="1"/>
          <p:nvPr>
            <p:ph idx="12" type="sldNum"/>
          </p:nvPr>
        </p:nvSpPr>
        <p:spPr>
          <a:xfrm>
            <a:off x="8472458" y="466344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4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Table of Contents</a:t>
            </a:r>
            <a:endParaRPr/>
          </a:p>
        </p:txBody>
      </p:sp>
      <p:sp>
        <p:nvSpPr>
          <p:cNvPr id="352" name="Google Shape;352;p44"/>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sp>
        <p:nvSpPr>
          <p:cNvPr id="353" name="Google Shape;353;p44"/>
          <p:cNvSpPr txBox="1"/>
          <p:nvPr/>
        </p:nvSpPr>
        <p:spPr>
          <a:xfrm>
            <a:off x="516437" y="8209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 &amp; Motivation</a:t>
            </a:r>
            <a:endParaRPr b="1" sz="3650">
              <a:solidFill>
                <a:schemeClr val="accent2"/>
              </a:solidFill>
              <a:latin typeface="Merriweather"/>
              <a:ea typeface="Merriweather"/>
              <a:cs typeface="Merriweather"/>
              <a:sym typeface="Merriweather"/>
            </a:endParaRPr>
          </a:p>
        </p:txBody>
      </p:sp>
      <p:sp>
        <p:nvSpPr>
          <p:cNvPr id="354" name="Google Shape;354;p44"/>
          <p:cNvSpPr txBox="1"/>
          <p:nvPr/>
        </p:nvSpPr>
        <p:spPr>
          <a:xfrm>
            <a:off x="516437" y="16605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Cleaning &amp; Preprocessing</a:t>
            </a:r>
            <a:endParaRPr b="1" sz="3650">
              <a:solidFill>
                <a:schemeClr val="accent2"/>
              </a:solidFill>
              <a:latin typeface="Merriweather"/>
              <a:ea typeface="Merriweather"/>
              <a:cs typeface="Merriweather"/>
              <a:sym typeface="Merriweather"/>
            </a:endParaRPr>
          </a:p>
        </p:txBody>
      </p:sp>
      <p:sp>
        <p:nvSpPr>
          <p:cNvPr id="355" name="Google Shape;355;p44"/>
          <p:cNvSpPr txBox="1"/>
          <p:nvPr/>
        </p:nvSpPr>
        <p:spPr>
          <a:xfrm>
            <a:off x="516437" y="24999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Feature Engineering</a:t>
            </a:r>
            <a:endParaRPr b="1" sz="3650">
              <a:solidFill>
                <a:schemeClr val="dk1"/>
              </a:solidFill>
              <a:latin typeface="Merriweather"/>
              <a:ea typeface="Merriweather"/>
              <a:cs typeface="Merriweather"/>
              <a:sym typeface="Merriweather"/>
            </a:endParaRPr>
          </a:p>
        </p:txBody>
      </p:sp>
      <p:sp>
        <p:nvSpPr>
          <p:cNvPr id="356" name="Google Shape;356;p44"/>
          <p:cNvSpPr txBox="1"/>
          <p:nvPr/>
        </p:nvSpPr>
        <p:spPr>
          <a:xfrm>
            <a:off x="516437" y="33326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Modeling</a:t>
            </a:r>
            <a:endParaRPr b="1" sz="3650">
              <a:solidFill>
                <a:schemeClr val="accent2"/>
              </a:solidFill>
              <a:latin typeface="Merriweather"/>
              <a:ea typeface="Merriweather"/>
              <a:cs typeface="Merriweather"/>
              <a:sym typeface="Merriweather"/>
            </a:endParaRPr>
          </a:p>
        </p:txBody>
      </p:sp>
      <p:sp>
        <p:nvSpPr>
          <p:cNvPr id="357" name="Google Shape;357;p44"/>
          <p:cNvSpPr txBox="1"/>
          <p:nvPr/>
        </p:nvSpPr>
        <p:spPr>
          <a:xfrm>
            <a:off x="516437" y="41790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Conclusion</a:t>
            </a:r>
            <a:endParaRPr b="1" sz="3650">
              <a:solidFill>
                <a:schemeClr val="accent2"/>
              </a:solidFill>
              <a:latin typeface="Merriweather"/>
              <a:ea typeface="Merriweather"/>
              <a:cs typeface="Merriweather"/>
              <a:sym typeface="Merriweather"/>
            </a:endParaRPr>
          </a:p>
        </p:txBody>
      </p:sp>
      <p:sp>
        <p:nvSpPr>
          <p:cNvPr id="358" name="Google Shape;358;p44"/>
          <p:cNvSpPr txBox="1"/>
          <p:nvPr/>
        </p:nvSpPr>
        <p:spPr>
          <a:xfrm>
            <a:off x="196954" y="8209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359" name="Google Shape;359;p44"/>
          <p:cNvSpPr txBox="1"/>
          <p:nvPr/>
        </p:nvSpPr>
        <p:spPr>
          <a:xfrm>
            <a:off x="196954" y="16605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360" name="Google Shape;360;p44"/>
          <p:cNvSpPr txBox="1"/>
          <p:nvPr/>
        </p:nvSpPr>
        <p:spPr>
          <a:xfrm>
            <a:off x="196954" y="24999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3.</a:t>
            </a:r>
            <a:endParaRPr b="1" sz="1450">
              <a:solidFill>
                <a:schemeClr val="dk1"/>
              </a:solidFill>
              <a:latin typeface="Merriweather"/>
              <a:ea typeface="Merriweather"/>
              <a:cs typeface="Merriweather"/>
              <a:sym typeface="Merriweather"/>
            </a:endParaRPr>
          </a:p>
        </p:txBody>
      </p:sp>
      <p:sp>
        <p:nvSpPr>
          <p:cNvPr id="361" name="Google Shape;361;p44"/>
          <p:cNvSpPr txBox="1"/>
          <p:nvPr/>
        </p:nvSpPr>
        <p:spPr>
          <a:xfrm>
            <a:off x="196954" y="33326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362" name="Google Shape;362;p44"/>
          <p:cNvSpPr txBox="1"/>
          <p:nvPr/>
        </p:nvSpPr>
        <p:spPr>
          <a:xfrm>
            <a:off x="196954" y="41790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5"/>
          <p:cNvSpPr txBox="1"/>
          <p:nvPr>
            <p:ph idx="1" type="subTitle"/>
          </p:nvPr>
        </p:nvSpPr>
        <p:spPr>
          <a:xfrm>
            <a:off x="4406650" y="848500"/>
            <a:ext cx="4409700" cy="114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Mapped linear time to Sine/Cosine coordinate pairs to ensure model understands that Sun night is adjacent to Monday morning</a:t>
            </a:r>
            <a:endParaRPr sz="1600"/>
          </a:p>
        </p:txBody>
      </p:sp>
      <p:sp>
        <p:nvSpPr>
          <p:cNvPr id="368" name="Google Shape;368;p45"/>
          <p:cNvSpPr txBox="1"/>
          <p:nvPr>
            <p:ph type="title"/>
          </p:nvPr>
        </p:nvSpPr>
        <p:spPr>
          <a:xfrm>
            <a:off x="676975" y="1301825"/>
            <a:ext cx="3217200" cy="215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Capturing The Temporal Dynamics</a:t>
            </a:r>
            <a:endParaRPr/>
          </a:p>
        </p:txBody>
      </p:sp>
      <p:sp>
        <p:nvSpPr>
          <p:cNvPr id="369" name="Google Shape;369;p45"/>
          <p:cNvSpPr txBox="1"/>
          <p:nvPr>
            <p:ph idx="4" type="subTitle"/>
          </p:nvPr>
        </p:nvSpPr>
        <p:spPr>
          <a:xfrm>
            <a:off x="4406650" y="2137707"/>
            <a:ext cx="4409700" cy="84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Velocity, </a:t>
            </a:r>
            <a:r>
              <a:rPr b="1" lang="en" sz="1600"/>
              <a:t>fill_velocity_per_day</a:t>
            </a:r>
            <a:r>
              <a:rPr lang="en" sz="1600"/>
              <a:t>, and Acceleration, </a:t>
            </a:r>
            <a:r>
              <a:rPr b="1" lang="en" sz="1600"/>
              <a:t>fill_acceleration</a:t>
            </a:r>
            <a:r>
              <a:rPr lang="en" sz="1600"/>
              <a:t>, </a:t>
            </a:r>
            <a:r>
              <a:rPr lang="en" sz="1600"/>
              <a:t>quantifying</a:t>
            </a:r>
            <a:r>
              <a:rPr lang="en" sz="1600"/>
              <a:t> the surging of registrations</a:t>
            </a:r>
            <a:endParaRPr sz="1600"/>
          </a:p>
        </p:txBody>
      </p:sp>
      <p:pic>
        <p:nvPicPr>
          <p:cNvPr id="370" name="Google Shape;370;p45"/>
          <p:cNvPicPr preferRelativeResize="0"/>
          <p:nvPr/>
        </p:nvPicPr>
        <p:blipFill>
          <a:blip r:embed="rId3">
            <a:alphaModFix/>
          </a:blip>
          <a:stretch>
            <a:fillRect/>
          </a:stretch>
        </p:blipFill>
        <p:spPr>
          <a:xfrm>
            <a:off x="4608250" y="3181563"/>
            <a:ext cx="1539700" cy="1539700"/>
          </a:xfrm>
          <a:prstGeom prst="rect">
            <a:avLst/>
          </a:prstGeom>
          <a:noFill/>
          <a:ln>
            <a:noFill/>
          </a:ln>
        </p:spPr>
      </p:pic>
      <p:pic>
        <p:nvPicPr>
          <p:cNvPr id="371" name="Google Shape;371;p45" title="Adobe Express - file.png"/>
          <p:cNvPicPr preferRelativeResize="0"/>
          <p:nvPr/>
        </p:nvPicPr>
        <p:blipFill>
          <a:blip r:embed="rId4">
            <a:alphaModFix/>
          </a:blip>
          <a:stretch>
            <a:fillRect/>
          </a:stretch>
        </p:blipFill>
        <p:spPr>
          <a:xfrm>
            <a:off x="6668500" y="2980100"/>
            <a:ext cx="2147850" cy="1942625"/>
          </a:xfrm>
          <a:prstGeom prst="rect">
            <a:avLst/>
          </a:prstGeom>
          <a:noFill/>
          <a:ln>
            <a:noFill/>
          </a:ln>
        </p:spPr>
      </p:pic>
      <p:sp>
        <p:nvSpPr>
          <p:cNvPr id="372" name="Google Shape;372;p45"/>
          <p:cNvSpPr txBox="1"/>
          <p:nvPr>
            <p:ph idx="4294967295" type="body"/>
          </p:nvPr>
        </p:nvSpPr>
        <p:spPr>
          <a:xfrm>
            <a:off x="196951" y="196725"/>
            <a:ext cx="18606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Feature Engineering</a:t>
            </a:r>
            <a:endParaRPr sz="800">
              <a:solidFill>
                <a:schemeClr val="dk1"/>
              </a:solidFill>
            </a:endParaRPr>
          </a:p>
        </p:txBody>
      </p:sp>
      <p:sp>
        <p:nvSpPr>
          <p:cNvPr id="373" name="Google Shape;373;p45"/>
          <p:cNvSpPr txBox="1"/>
          <p:nvPr>
            <p:ph idx="4294967295" type="body"/>
          </p:nvPr>
        </p:nvSpPr>
        <p:spPr>
          <a:xfrm>
            <a:off x="7087526" y="196725"/>
            <a:ext cx="1933500" cy="209100"/>
          </a:xfrm>
          <a:prstGeom prst="rect">
            <a:avLst/>
          </a:prstGeom>
        </p:spPr>
        <p:txBody>
          <a:bodyPr anchorCtr="0" anchor="t" bIns="91425" lIns="91425" spcFirstLastPara="1" rIns="91425" wrap="square" tIns="91425">
            <a:noAutofit/>
          </a:bodyPr>
          <a:lstStyle/>
          <a:p>
            <a:pPr indent="0" lvl="0" marL="0" rtl="0" algn="r">
              <a:spcBef>
                <a:spcPts val="0"/>
              </a:spcBef>
              <a:spcAft>
                <a:spcPts val="1200"/>
              </a:spcAft>
              <a:buNone/>
            </a:pPr>
            <a:r>
              <a:rPr lang="en" sz="800">
                <a:solidFill>
                  <a:schemeClr val="dk1"/>
                </a:solidFill>
              </a:rPr>
              <a:t>Data Mining</a:t>
            </a:r>
            <a:endParaRPr sz="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7" name="Shape 377"/>
        <p:cNvGrpSpPr/>
        <p:nvPr/>
      </p:nvGrpSpPr>
      <p:grpSpPr>
        <a:xfrm>
          <a:off x="0" y="0"/>
          <a:ext cx="0" cy="0"/>
          <a:chOff x="0" y="0"/>
          <a:chExt cx="0" cy="0"/>
        </a:xfrm>
      </p:grpSpPr>
      <p:sp>
        <p:nvSpPr>
          <p:cNvPr id="378" name="Google Shape;378;p46"/>
          <p:cNvSpPr txBox="1"/>
          <p:nvPr>
            <p:ph type="title"/>
          </p:nvPr>
        </p:nvSpPr>
        <p:spPr>
          <a:xfrm>
            <a:off x="197375" y="472175"/>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Dataset Construction Modeling</a:t>
            </a:r>
            <a:endParaRPr/>
          </a:p>
        </p:txBody>
      </p:sp>
      <p:sp>
        <p:nvSpPr>
          <p:cNvPr id="379" name="Google Shape;379;p46"/>
          <p:cNvSpPr txBox="1"/>
          <p:nvPr>
            <p:ph idx="1" type="body"/>
          </p:nvPr>
        </p:nvSpPr>
        <p:spPr>
          <a:xfrm>
            <a:off x="197375" y="2300475"/>
            <a:ext cx="3632700" cy="194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sz="1400"/>
              <a:t>Constructed final training matrix, defining target variable as the </a:t>
            </a:r>
            <a:r>
              <a:rPr b="1" lang="en" sz="1400"/>
              <a:t>fill percentage</a:t>
            </a:r>
            <a:endParaRPr b="1" sz="1400"/>
          </a:p>
          <a:p>
            <a:pPr indent="0" lvl="0" marL="0" rtl="0" algn="l">
              <a:spcBef>
                <a:spcPts val="1200"/>
              </a:spcBef>
              <a:spcAft>
                <a:spcPts val="0"/>
              </a:spcAft>
              <a:buClr>
                <a:schemeClr val="accent3"/>
              </a:buClr>
              <a:buSzPts val="1100"/>
              <a:buFont typeface="Arial"/>
              <a:buNone/>
            </a:pPr>
            <a:r>
              <a:rPr lang="en" sz="1400"/>
              <a:t>One-Hot Encoding converts text to </a:t>
            </a:r>
            <a:r>
              <a:rPr b="1" lang="en" sz="1400"/>
              <a:t>binary vectors</a:t>
            </a:r>
            <a:endParaRPr b="1" sz="1400"/>
          </a:p>
          <a:p>
            <a:pPr indent="0" lvl="0" marL="0" rtl="0" algn="l">
              <a:spcBef>
                <a:spcPts val="1200"/>
              </a:spcBef>
              <a:spcAft>
                <a:spcPts val="1200"/>
              </a:spcAft>
              <a:buClr>
                <a:schemeClr val="accent3"/>
              </a:buClr>
              <a:buSzPts val="1100"/>
              <a:buFont typeface="Arial"/>
              <a:buNone/>
            </a:pPr>
            <a:r>
              <a:rPr lang="en" sz="1400"/>
              <a:t>Final scrubbing to ensure ready for </a:t>
            </a:r>
            <a:r>
              <a:rPr b="1" lang="en" sz="1400"/>
              <a:t>XGBoost algorithm</a:t>
            </a:r>
            <a:endParaRPr b="1" sz="1400"/>
          </a:p>
        </p:txBody>
      </p:sp>
      <p:sp>
        <p:nvSpPr>
          <p:cNvPr id="380" name="Google Shape;380;p46"/>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solidFill>
                  <a:schemeClr val="dk1"/>
                </a:solidFill>
              </a:rPr>
              <a:t>Feature Engineering</a:t>
            </a:r>
            <a:endParaRPr>
              <a:solidFill>
                <a:schemeClr val="dk1"/>
              </a:solidFill>
            </a:endParaRPr>
          </a:p>
        </p:txBody>
      </p:sp>
      <p:sp>
        <p:nvSpPr>
          <p:cNvPr id="381" name="Google Shape;381;p4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pic>
        <p:nvPicPr>
          <p:cNvPr id="382" name="Google Shape;382;p46"/>
          <p:cNvPicPr preferRelativeResize="0"/>
          <p:nvPr/>
        </p:nvPicPr>
        <p:blipFill rotWithShape="1">
          <a:blip r:embed="rId3">
            <a:alphaModFix/>
          </a:blip>
          <a:srcRect b="20343" l="0" r="0" t="19415"/>
          <a:stretch/>
        </p:blipFill>
        <p:spPr>
          <a:xfrm>
            <a:off x="4287200" y="2018175"/>
            <a:ext cx="4819075" cy="16329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 sz="1400">
                <a:solidFill>
                  <a:schemeClr val="hlink"/>
                </a:solidFill>
              </a:rPr>
              <a:t>Selected for its ability to handle non-linear fill rates and robustness to missing data.</a:t>
            </a:r>
            <a:endParaRPr sz="1400">
              <a:solidFill>
                <a:schemeClr val="hlink"/>
              </a:solidFill>
            </a:endParaRPr>
          </a:p>
          <a:p>
            <a:pPr indent="0" lvl="0" marL="0" rtl="0" algn="l">
              <a:lnSpc>
                <a:spcPct val="115000"/>
              </a:lnSpc>
              <a:spcBef>
                <a:spcPts val="0"/>
              </a:spcBef>
              <a:spcAft>
                <a:spcPts val="0"/>
              </a:spcAft>
              <a:buNone/>
            </a:pPr>
            <a:r>
              <a:t/>
            </a:r>
            <a:endParaRPr sz="1400">
              <a:solidFill>
                <a:schemeClr val="hlink"/>
              </a:solidFill>
            </a:endParaRPr>
          </a:p>
          <a:p>
            <a:pPr indent="0" lvl="0" marL="0" rtl="0" algn="l">
              <a:lnSpc>
                <a:spcPct val="115000"/>
              </a:lnSpc>
              <a:spcBef>
                <a:spcPts val="0"/>
              </a:spcBef>
              <a:spcAft>
                <a:spcPts val="0"/>
              </a:spcAft>
              <a:buClr>
                <a:schemeClr val="hlink"/>
              </a:buClr>
              <a:buSzPts val="1100"/>
              <a:buFont typeface="Arial"/>
              <a:buNone/>
            </a:pPr>
            <a:r>
              <a:rPr lang="en" sz="1400">
                <a:solidFill>
                  <a:schemeClr val="hlink"/>
                </a:solidFill>
              </a:rPr>
              <a:t>Leakage Prevention Strategy:</a:t>
            </a:r>
            <a:endParaRPr sz="1400">
              <a:solidFill>
                <a:schemeClr val="hlink"/>
              </a:solidFill>
            </a:endParaRPr>
          </a:p>
          <a:p>
            <a:pPr indent="-317500" lvl="0" marL="457200" rtl="0" algn="l">
              <a:lnSpc>
                <a:spcPct val="115000"/>
              </a:lnSpc>
              <a:spcBef>
                <a:spcPts val="0"/>
              </a:spcBef>
              <a:spcAft>
                <a:spcPts val="0"/>
              </a:spcAft>
              <a:buClr>
                <a:schemeClr val="hlink"/>
              </a:buClr>
              <a:buSzPts val="1400"/>
              <a:buFont typeface="Arial"/>
              <a:buChar char="●"/>
            </a:pPr>
            <a:r>
              <a:rPr lang="en" sz="1400">
                <a:solidFill>
                  <a:schemeClr val="hlink"/>
                </a:solidFill>
              </a:rPr>
              <a:t>Excluded the "current state" features (like </a:t>
            </a:r>
            <a:r>
              <a:rPr b="1" lang="en" sz="1400">
                <a:solidFill>
                  <a:schemeClr val="hlink"/>
                </a:solidFill>
              </a:rPr>
              <a:t>Current Seats Taken</a:t>
            </a:r>
            <a:r>
              <a:rPr lang="en" sz="1400">
                <a:solidFill>
                  <a:schemeClr val="hlink"/>
                </a:solidFill>
              </a:rPr>
              <a:t>). Representing the "answer" at time </a:t>
            </a:r>
            <a:r>
              <a:rPr i="1" lang="en" sz="1400">
                <a:solidFill>
                  <a:schemeClr val="hlink"/>
                </a:solidFill>
              </a:rPr>
              <a:t>t</a:t>
            </a:r>
            <a:r>
              <a:rPr lang="en" sz="1400">
                <a:solidFill>
                  <a:schemeClr val="hlink"/>
                </a:solidFill>
              </a:rPr>
              <a:t>.</a:t>
            </a:r>
            <a:endParaRPr sz="1400">
              <a:solidFill>
                <a:schemeClr val="hlink"/>
              </a:solidFill>
            </a:endParaRPr>
          </a:p>
          <a:p>
            <a:pPr indent="-317500" lvl="0" marL="457200" rtl="0" algn="l">
              <a:lnSpc>
                <a:spcPct val="115000"/>
              </a:lnSpc>
              <a:spcBef>
                <a:spcPts val="0"/>
              </a:spcBef>
              <a:spcAft>
                <a:spcPts val="0"/>
              </a:spcAft>
              <a:buClr>
                <a:schemeClr val="hlink"/>
              </a:buClr>
              <a:buSzPts val="1400"/>
              <a:buFont typeface="Arial"/>
              <a:buChar char="●"/>
            </a:pPr>
            <a:r>
              <a:rPr lang="en" sz="1400">
                <a:solidFill>
                  <a:schemeClr val="hlink"/>
                </a:solidFill>
              </a:rPr>
              <a:t>Included only Lagged Features and Rolling Statistics.</a:t>
            </a:r>
            <a:endParaRPr sz="1400">
              <a:solidFill>
                <a:schemeClr val="hlink"/>
              </a:solidFill>
            </a:endParaRPr>
          </a:p>
          <a:p>
            <a:pPr indent="0" lvl="0" marL="0" rtl="0" algn="l">
              <a:lnSpc>
                <a:spcPct val="115000"/>
              </a:lnSpc>
              <a:spcBef>
                <a:spcPts val="1200"/>
              </a:spcBef>
              <a:spcAft>
                <a:spcPts val="0"/>
              </a:spcAft>
              <a:buClr>
                <a:schemeClr val="hlink"/>
              </a:buClr>
              <a:buSzPts val="1100"/>
              <a:buFont typeface="Arial"/>
              <a:buNone/>
            </a:pPr>
            <a:r>
              <a:rPr lang="en" sz="1400">
                <a:solidFill>
                  <a:schemeClr val="hlink"/>
                </a:solidFill>
              </a:rPr>
              <a:t>Training Split:</a:t>
            </a:r>
            <a:endParaRPr sz="1400">
              <a:solidFill>
                <a:schemeClr val="hlink"/>
              </a:solidFill>
            </a:endParaRPr>
          </a:p>
          <a:p>
            <a:pPr indent="-317500" lvl="0" marL="457200" rtl="0" algn="l">
              <a:lnSpc>
                <a:spcPct val="115000"/>
              </a:lnSpc>
              <a:spcBef>
                <a:spcPts val="0"/>
              </a:spcBef>
              <a:spcAft>
                <a:spcPts val="0"/>
              </a:spcAft>
              <a:buClr>
                <a:schemeClr val="hlink"/>
              </a:buClr>
              <a:buSzPts val="1400"/>
              <a:buFont typeface="Arial"/>
              <a:buChar char="●"/>
            </a:pPr>
            <a:r>
              <a:rPr lang="en" sz="1400">
                <a:solidFill>
                  <a:schemeClr val="hlink"/>
                </a:solidFill>
              </a:rPr>
              <a:t>Training on the first 80% of the timeline, testing on the final 20%.</a:t>
            </a:r>
            <a:endParaRPr sz="1400">
              <a:solidFill>
                <a:schemeClr val="hlink"/>
              </a:solidFill>
            </a:endParaRPr>
          </a:p>
          <a:p>
            <a:pPr indent="0" lvl="0" marL="0" rtl="0" algn="l">
              <a:lnSpc>
                <a:spcPct val="115000"/>
              </a:lnSpc>
              <a:spcBef>
                <a:spcPts val="1200"/>
              </a:spcBef>
              <a:spcAft>
                <a:spcPts val="1200"/>
              </a:spcAft>
              <a:buNone/>
            </a:pPr>
            <a:r>
              <a:rPr lang="en" sz="1400">
                <a:solidFill>
                  <a:schemeClr val="hlink"/>
                </a:solidFill>
              </a:rPr>
              <a:t>Mean Absolute Error (MAE) target tolerance of +- 5%.</a:t>
            </a:r>
            <a:endParaRPr sz="1400"/>
          </a:p>
        </p:txBody>
      </p:sp>
      <p:sp>
        <p:nvSpPr>
          <p:cNvPr id="388" name="Google Shape;38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XGBoost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id="393" name="Google Shape;393;p48"/>
          <p:cNvPicPr preferRelativeResize="0"/>
          <p:nvPr/>
        </p:nvPicPr>
        <p:blipFill>
          <a:blip r:embed="rId3">
            <a:alphaModFix/>
          </a:blip>
          <a:stretch>
            <a:fillRect/>
          </a:stretch>
        </p:blipFill>
        <p:spPr>
          <a:xfrm>
            <a:off x="668550" y="152400"/>
            <a:ext cx="7806895" cy="4838700"/>
          </a:xfrm>
          <a:prstGeom prst="rect">
            <a:avLst/>
          </a:prstGeom>
          <a:noFill/>
          <a:ln>
            <a:noFill/>
          </a:ln>
        </p:spPr>
      </p:pic>
      <p:sp>
        <p:nvSpPr>
          <p:cNvPr id="394" name="Google Shape;394;p48"/>
          <p:cNvSpPr txBox="1"/>
          <p:nvPr>
            <p:ph idx="1" type="body"/>
          </p:nvPr>
        </p:nvSpPr>
        <p:spPr>
          <a:xfrm>
            <a:off x="7210501" y="196450"/>
            <a:ext cx="1933500" cy="209100"/>
          </a:xfrm>
          <a:prstGeom prst="rect">
            <a:avLst/>
          </a:prstGeom>
        </p:spPr>
        <p:txBody>
          <a:bodyPr anchorCtr="0" anchor="t" bIns="91425" lIns="91425" spcFirstLastPara="1" rIns="91425" wrap="square" tIns="91425">
            <a:noAutofit/>
          </a:bodyPr>
          <a:lstStyle/>
          <a:p>
            <a:pPr indent="0" lvl="0" marL="0" rtl="0" algn="r">
              <a:spcBef>
                <a:spcPts val="0"/>
              </a:spcBef>
              <a:spcAft>
                <a:spcPts val="1200"/>
              </a:spcAft>
              <a:buNone/>
            </a:pPr>
            <a:r>
              <a:rPr lang="en" sz="800">
                <a:solidFill>
                  <a:schemeClr val="dk1"/>
                </a:solidFill>
              </a:rPr>
              <a:t>Data Mining</a:t>
            </a:r>
            <a:endParaRPr sz="800">
              <a:solidFill>
                <a:schemeClr val="dk1"/>
              </a:solidFill>
            </a:endParaRPr>
          </a:p>
        </p:txBody>
      </p:sp>
      <p:sp>
        <p:nvSpPr>
          <p:cNvPr id="395" name="Google Shape;395;p48"/>
          <p:cNvSpPr txBox="1"/>
          <p:nvPr>
            <p:ph idx="4294967295" type="body"/>
          </p:nvPr>
        </p:nvSpPr>
        <p:spPr>
          <a:xfrm>
            <a:off x="1" y="152400"/>
            <a:ext cx="18606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Feature </a:t>
            </a:r>
            <a:br>
              <a:rPr lang="en" sz="800">
                <a:solidFill>
                  <a:schemeClr val="dk1"/>
                </a:solidFill>
              </a:rPr>
            </a:br>
            <a:r>
              <a:rPr lang="en" sz="800">
                <a:solidFill>
                  <a:schemeClr val="dk1"/>
                </a:solidFill>
              </a:rPr>
              <a:t>Engineering</a:t>
            </a:r>
            <a:endParaRPr sz="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1" name="Google Shape;401;p49"/>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Table of Contents</a:t>
            </a:r>
            <a:endParaRPr/>
          </a:p>
        </p:txBody>
      </p:sp>
      <p:sp>
        <p:nvSpPr>
          <p:cNvPr id="402" name="Google Shape;402;p49"/>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sp>
        <p:nvSpPr>
          <p:cNvPr id="403" name="Google Shape;403;p49"/>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Defining the Problem</a:t>
            </a:r>
            <a:endParaRPr b="1" sz="3650">
              <a:solidFill>
                <a:schemeClr val="accent2"/>
              </a:solidFill>
              <a:latin typeface="Merriweather"/>
              <a:ea typeface="Merriweather"/>
              <a:cs typeface="Merriweather"/>
              <a:sym typeface="Merriweather"/>
            </a:endParaRPr>
          </a:p>
        </p:txBody>
      </p:sp>
      <p:sp>
        <p:nvSpPr>
          <p:cNvPr id="404" name="Google Shape;404;p49"/>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Making Observations</a:t>
            </a:r>
            <a:endParaRPr b="1" sz="3650">
              <a:solidFill>
                <a:schemeClr val="accent2"/>
              </a:solidFill>
              <a:latin typeface="Merriweather"/>
              <a:ea typeface="Merriweather"/>
              <a:cs typeface="Merriweather"/>
              <a:sym typeface="Merriweather"/>
            </a:endParaRPr>
          </a:p>
        </p:txBody>
      </p:sp>
      <p:sp>
        <p:nvSpPr>
          <p:cNvPr id="405" name="Google Shape;405;p49"/>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Feature Engineering</a:t>
            </a:r>
            <a:endParaRPr b="1" sz="3650">
              <a:solidFill>
                <a:schemeClr val="accent2"/>
              </a:solidFill>
              <a:latin typeface="Merriweather"/>
              <a:ea typeface="Merriweather"/>
              <a:cs typeface="Merriweather"/>
              <a:sym typeface="Merriweather"/>
            </a:endParaRPr>
          </a:p>
        </p:txBody>
      </p:sp>
      <p:sp>
        <p:nvSpPr>
          <p:cNvPr id="406" name="Google Shape;406;p49"/>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Modeling</a:t>
            </a:r>
            <a:endParaRPr b="1" sz="3650">
              <a:solidFill>
                <a:schemeClr val="dk1"/>
              </a:solidFill>
              <a:latin typeface="Merriweather"/>
              <a:ea typeface="Merriweather"/>
              <a:cs typeface="Merriweather"/>
              <a:sym typeface="Merriweather"/>
            </a:endParaRPr>
          </a:p>
        </p:txBody>
      </p:sp>
      <p:sp>
        <p:nvSpPr>
          <p:cNvPr id="407" name="Google Shape;407;p49"/>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Conclusion</a:t>
            </a:r>
            <a:endParaRPr b="1" sz="3650">
              <a:solidFill>
                <a:schemeClr val="accent2"/>
              </a:solidFill>
              <a:latin typeface="Merriweather"/>
              <a:ea typeface="Merriweather"/>
              <a:cs typeface="Merriweather"/>
              <a:sym typeface="Merriweather"/>
            </a:endParaRPr>
          </a:p>
        </p:txBody>
      </p:sp>
      <p:sp>
        <p:nvSpPr>
          <p:cNvPr id="408" name="Google Shape;408;p49"/>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409" name="Google Shape;409;p49"/>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410" name="Google Shape;410;p49"/>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411" name="Google Shape;411;p49"/>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4.</a:t>
            </a:r>
            <a:endParaRPr b="1" sz="1450">
              <a:solidFill>
                <a:schemeClr val="dk1"/>
              </a:solidFill>
              <a:latin typeface="Merriweather"/>
              <a:ea typeface="Merriweather"/>
              <a:cs typeface="Merriweather"/>
              <a:sym typeface="Merriweather"/>
            </a:endParaRPr>
          </a:p>
        </p:txBody>
      </p:sp>
      <p:sp>
        <p:nvSpPr>
          <p:cNvPr id="412" name="Google Shape;412;p49"/>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6" name="Shape 416"/>
        <p:cNvGrpSpPr/>
        <p:nvPr/>
      </p:nvGrpSpPr>
      <p:grpSpPr>
        <a:xfrm>
          <a:off x="0" y="0"/>
          <a:ext cx="0" cy="0"/>
          <a:chOff x="0" y="0"/>
          <a:chExt cx="0" cy="0"/>
        </a:xfrm>
      </p:grpSpPr>
      <p:sp>
        <p:nvSpPr>
          <p:cNvPr id="417" name="Google Shape;417;p50"/>
          <p:cNvSpPr txBox="1"/>
          <p:nvPr>
            <p:ph type="title"/>
          </p:nvPr>
        </p:nvSpPr>
        <p:spPr>
          <a:xfrm>
            <a:off x="196950" y="459600"/>
            <a:ext cx="3151800" cy="1113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Forecasting</a:t>
            </a:r>
            <a:r>
              <a:rPr lang="en"/>
              <a:t> Model</a:t>
            </a:r>
            <a:endParaRPr/>
          </a:p>
        </p:txBody>
      </p:sp>
      <p:sp>
        <p:nvSpPr>
          <p:cNvPr id="418" name="Google Shape;418;p50"/>
          <p:cNvSpPr txBox="1"/>
          <p:nvPr>
            <p:ph idx="1" type="body"/>
          </p:nvPr>
        </p:nvSpPr>
        <p:spPr>
          <a:xfrm>
            <a:off x="196950" y="1626675"/>
            <a:ext cx="39957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accent3"/>
              </a:buClr>
              <a:buSzPts val="1100"/>
              <a:buFont typeface="Arial"/>
              <a:buNone/>
            </a:pPr>
            <a:r>
              <a:rPr lang="en" sz="1400"/>
              <a:t>P</a:t>
            </a:r>
            <a:r>
              <a:rPr lang="en" sz="1400"/>
              <a:t>redicting enrollment 3, 7, and 14 days out</a:t>
            </a:r>
            <a:endParaRPr sz="1400"/>
          </a:p>
          <a:p>
            <a:pPr indent="0" lvl="0" marL="0" rtl="0" algn="l">
              <a:spcBef>
                <a:spcPts val="1200"/>
              </a:spcBef>
              <a:spcAft>
                <a:spcPts val="0"/>
              </a:spcAft>
              <a:buClr>
                <a:schemeClr val="accent3"/>
              </a:buClr>
              <a:buSzPts val="1100"/>
              <a:buFont typeface="Arial"/>
              <a:buNone/>
            </a:pPr>
            <a:r>
              <a:rPr lang="en" sz="1400"/>
              <a:t>Model only sees past history. NOT current state</a:t>
            </a:r>
            <a:endParaRPr sz="1400"/>
          </a:p>
          <a:p>
            <a:pPr indent="0" lvl="0" marL="0" rtl="0" algn="l">
              <a:spcBef>
                <a:spcPts val="1200"/>
              </a:spcBef>
              <a:spcAft>
                <a:spcPts val="0"/>
              </a:spcAft>
              <a:buClr>
                <a:schemeClr val="accent3"/>
              </a:buClr>
              <a:buSzPts val="1100"/>
              <a:buFont typeface="Arial"/>
              <a:buNone/>
            </a:pPr>
            <a:r>
              <a:rPr lang="en" sz="1400"/>
              <a:t>Very high accuracy for short and long term forecasts</a:t>
            </a:r>
            <a:endParaRPr sz="1400"/>
          </a:p>
          <a:p>
            <a:pPr indent="0" lvl="0" marL="0" rtl="0" algn="l">
              <a:spcBef>
                <a:spcPts val="1200"/>
              </a:spcBef>
              <a:spcAft>
                <a:spcPts val="1200"/>
              </a:spcAft>
              <a:buClr>
                <a:schemeClr val="accent3"/>
              </a:buClr>
              <a:buSzPts val="1100"/>
              <a:buFont typeface="Arial"/>
              <a:buNone/>
            </a:pPr>
            <a:r>
              <a:rPr lang="en" sz="1400"/>
              <a:t>The momentum is the single best predictor!</a:t>
            </a:r>
            <a:endParaRPr sz="1400"/>
          </a:p>
        </p:txBody>
      </p:sp>
      <p:sp>
        <p:nvSpPr>
          <p:cNvPr id="419" name="Google Shape;419;p50"/>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solidFill>
                  <a:schemeClr val="dk1"/>
                </a:solidFill>
              </a:rPr>
              <a:t>Modeling</a:t>
            </a:r>
            <a:endParaRPr>
              <a:solidFill>
                <a:schemeClr val="dk1"/>
              </a:solidFill>
            </a:endParaRPr>
          </a:p>
        </p:txBody>
      </p:sp>
      <p:sp>
        <p:nvSpPr>
          <p:cNvPr id="420" name="Google Shape;420;p50"/>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pic>
        <p:nvPicPr>
          <p:cNvPr id="421" name="Google Shape;421;p50"/>
          <p:cNvPicPr preferRelativeResize="0"/>
          <p:nvPr/>
        </p:nvPicPr>
        <p:blipFill>
          <a:blip r:embed="rId3">
            <a:alphaModFix/>
          </a:blip>
          <a:stretch>
            <a:fillRect/>
          </a:stretch>
        </p:blipFill>
        <p:spPr>
          <a:xfrm>
            <a:off x="4404075" y="1236000"/>
            <a:ext cx="4616949" cy="3272149"/>
          </a:xfrm>
          <a:prstGeom prst="rect">
            <a:avLst/>
          </a:prstGeom>
          <a:noFill/>
          <a:ln>
            <a:noFill/>
          </a:ln>
        </p:spPr>
      </p:pic>
      <p:sp>
        <p:nvSpPr>
          <p:cNvPr id="422" name="Google Shape;422;p50"/>
          <p:cNvSpPr txBox="1"/>
          <p:nvPr>
            <p:ph idx="4294967295" type="subTitle"/>
          </p:nvPr>
        </p:nvSpPr>
        <p:spPr>
          <a:xfrm>
            <a:off x="196950" y="3681038"/>
            <a:ext cx="2455500" cy="7785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Clr>
                <a:schemeClr val="hlink"/>
              </a:buClr>
              <a:buSzPts val="1100"/>
              <a:buFont typeface="Arial"/>
              <a:buNone/>
            </a:pPr>
            <a:r>
              <a:rPr b="1" lang="en" sz="1400"/>
              <a:t>Time Series Forecasting</a:t>
            </a:r>
            <a:endParaRPr b="1" sz="1400"/>
          </a:p>
          <a:p>
            <a:pPr indent="0" lvl="0" marL="0" rtl="0" algn="l">
              <a:spcBef>
                <a:spcPts val="1200"/>
              </a:spcBef>
              <a:spcAft>
                <a:spcPts val="1200"/>
              </a:spcAft>
              <a:buNone/>
            </a:pPr>
            <a:r>
              <a:t/>
            </a:r>
            <a:endParaRPr b="1" sz="1400"/>
          </a:p>
        </p:txBody>
      </p:sp>
      <p:sp>
        <p:nvSpPr>
          <p:cNvPr id="423" name="Google Shape;423;p50"/>
          <p:cNvSpPr txBox="1"/>
          <p:nvPr>
            <p:ph idx="4294967295" type="subTitle"/>
          </p:nvPr>
        </p:nvSpPr>
        <p:spPr>
          <a:xfrm>
            <a:off x="196950" y="4016125"/>
            <a:ext cx="2934000" cy="778500"/>
          </a:xfrm>
          <a:prstGeom prst="rect">
            <a:avLst/>
          </a:prstGeom>
        </p:spPr>
        <p:txBody>
          <a:bodyPr anchorCtr="0" anchor="t" bIns="91425" lIns="91425" spcFirstLastPara="1" rIns="91425" wrap="square" tIns="91425">
            <a:normAutofit/>
          </a:bodyPr>
          <a:lstStyle/>
          <a:p>
            <a:pPr indent="0" lvl="0" marL="0" marR="0" rtl="0" algn="l">
              <a:lnSpc>
                <a:spcPct val="90000"/>
              </a:lnSpc>
              <a:spcBef>
                <a:spcPts val="0"/>
              </a:spcBef>
              <a:spcAft>
                <a:spcPts val="1200"/>
              </a:spcAft>
              <a:buClr>
                <a:schemeClr val="hlink"/>
              </a:buClr>
              <a:buSzPts val="1100"/>
              <a:buFont typeface="Arial"/>
              <a:buNone/>
            </a:pPr>
            <a:r>
              <a:rPr b="1" lang="en" sz="1400"/>
              <a:t>XGBoost Classifier + Regressor</a:t>
            </a:r>
            <a:endParaRPr b="1" sz="2850"/>
          </a:p>
        </p:txBody>
      </p:sp>
      <p:sp>
        <p:nvSpPr>
          <p:cNvPr id="424" name="Google Shape;424;p50"/>
          <p:cNvSpPr txBox="1"/>
          <p:nvPr>
            <p:ph idx="4294967295" type="subTitle"/>
          </p:nvPr>
        </p:nvSpPr>
        <p:spPr>
          <a:xfrm>
            <a:off x="196950" y="4365000"/>
            <a:ext cx="2455500" cy="7785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None/>
            </a:pPr>
            <a:r>
              <a:rPr b="1" lang="en" sz="1400"/>
              <a:t>Ranking / Scoring</a:t>
            </a:r>
            <a:endParaRPr b="1" sz="285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51"/>
          <p:cNvPicPr preferRelativeResize="0"/>
          <p:nvPr/>
        </p:nvPicPr>
        <p:blipFill>
          <a:blip r:embed="rId3">
            <a:alphaModFix/>
          </a:blip>
          <a:stretch>
            <a:fillRect/>
          </a:stretch>
        </p:blipFill>
        <p:spPr>
          <a:xfrm>
            <a:off x="1161150" y="152400"/>
            <a:ext cx="6068357" cy="4838700"/>
          </a:xfrm>
          <a:prstGeom prst="rect">
            <a:avLst/>
          </a:prstGeom>
          <a:noFill/>
          <a:ln>
            <a:noFill/>
          </a:ln>
        </p:spPr>
      </p:pic>
      <p:sp>
        <p:nvSpPr>
          <p:cNvPr id="430" name="Google Shape;430;p51"/>
          <p:cNvSpPr txBox="1"/>
          <p:nvPr>
            <p:ph idx="1"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solidFill>
                  <a:schemeClr val="dk1"/>
                </a:solidFill>
              </a:rPr>
              <a:t>Modeling</a:t>
            </a:r>
            <a:endParaRPr>
              <a:solidFill>
                <a:schemeClr val="dk1"/>
              </a:solidFill>
            </a:endParaRPr>
          </a:p>
        </p:txBody>
      </p:sp>
      <p:sp>
        <p:nvSpPr>
          <p:cNvPr id="431" name="Google Shape;431;p5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sp>
        <p:nvSpPr>
          <p:cNvPr id="432" name="Google Shape;432;p51"/>
          <p:cNvSpPr txBox="1"/>
          <p:nvPr/>
        </p:nvSpPr>
        <p:spPr>
          <a:xfrm>
            <a:off x="7303825" y="1315800"/>
            <a:ext cx="1717200" cy="2511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1200"/>
              </a:spcAft>
              <a:buNone/>
            </a:pPr>
            <a:r>
              <a:rPr lang="en">
                <a:solidFill>
                  <a:schemeClr val="dk2"/>
                </a:solidFill>
                <a:latin typeface="DM Sans"/>
                <a:ea typeface="DM Sans"/>
                <a:cs typeface="DM Sans"/>
                <a:sym typeface="DM Sans"/>
              </a:rPr>
              <a:t>Architecture (ARC) and Psychology (PSY) courses are popular predictors.</a:t>
            </a:r>
            <a:br>
              <a:rPr lang="en">
                <a:solidFill>
                  <a:schemeClr val="dk2"/>
                </a:solidFill>
                <a:latin typeface="DM Sans"/>
                <a:ea typeface="DM Sans"/>
                <a:cs typeface="DM Sans"/>
                <a:sym typeface="DM Sans"/>
              </a:rPr>
            </a:br>
            <a:br>
              <a:rPr lang="en">
                <a:solidFill>
                  <a:schemeClr val="dk2"/>
                </a:solidFill>
                <a:latin typeface="DM Sans"/>
                <a:ea typeface="DM Sans"/>
                <a:cs typeface="DM Sans"/>
                <a:sym typeface="DM Sans"/>
              </a:rPr>
            </a:br>
            <a:r>
              <a:rPr lang="en">
                <a:solidFill>
                  <a:schemeClr val="dk2"/>
                </a:solidFill>
                <a:latin typeface="DM Sans"/>
                <a:ea typeface="DM Sans"/>
                <a:cs typeface="DM Sans"/>
                <a:sym typeface="DM Sans"/>
              </a:rPr>
              <a:t>Online courses also seem to contribute well to popularity prediction</a:t>
            </a:r>
            <a:endParaRPr>
              <a:solidFill>
                <a:schemeClr val="dk2"/>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pic>
        <p:nvPicPr>
          <p:cNvPr id="437" name="Google Shape;437;p52"/>
          <p:cNvPicPr preferRelativeResize="0"/>
          <p:nvPr/>
        </p:nvPicPr>
        <p:blipFill>
          <a:blip r:embed="rId3">
            <a:alphaModFix/>
          </a:blip>
          <a:stretch>
            <a:fillRect/>
          </a:stretch>
        </p:blipFill>
        <p:spPr>
          <a:xfrm>
            <a:off x="1161150" y="152400"/>
            <a:ext cx="6068357" cy="4838700"/>
          </a:xfrm>
          <a:prstGeom prst="rect">
            <a:avLst/>
          </a:prstGeom>
          <a:noFill/>
          <a:ln>
            <a:noFill/>
          </a:ln>
        </p:spPr>
      </p:pic>
      <p:pic>
        <p:nvPicPr>
          <p:cNvPr id="438" name="Google Shape;438;p52"/>
          <p:cNvPicPr preferRelativeResize="0"/>
          <p:nvPr/>
        </p:nvPicPr>
        <p:blipFill>
          <a:blip r:embed="rId4">
            <a:alphaModFix/>
          </a:blip>
          <a:stretch>
            <a:fillRect/>
          </a:stretch>
        </p:blipFill>
        <p:spPr>
          <a:xfrm>
            <a:off x="578633" y="98225"/>
            <a:ext cx="7986744" cy="4947051"/>
          </a:xfrm>
          <a:prstGeom prst="rect">
            <a:avLst/>
          </a:prstGeom>
          <a:noFill/>
          <a:ln>
            <a:noFill/>
          </a:ln>
        </p:spPr>
      </p:pic>
      <p:sp>
        <p:nvSpPr>
          <p:cNvPr id="439" name="Google Shape;439;p52"/>
          <p:cNvSpPr txBox="1"/>
          <p:nvPr>
            <p:ph idx="2" type="body"/>
          </p:nvPr>
        </p:nvSpPr>
        <p:spPr>
          <a:xfrm>
            <a:off x="7210500" y="152400"/>
            <a:ext cx="1933500" cy="2532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a:t>
            </a:r>
            <a:br>
              <a:rPr lang="en"/>
            </a:br>
            <a:r>
              <a:rPr lang="en"/>
              <a:t>Mining</a:t>
            </a:r>
            <a:endParaRPr/>
          </a:p>
        </p:txBody>
      </p:sp>
      <p:sp>
        <p:nvSpPr>
          <p:cNvPr id="440" name="Google Shape;440;p52"/>
          <p:cNvSpPr txBox="1"/>
          <p:nvPr>
            <p:ph idx="1" type="body"/>
          </p:nvPr>
        </p:nvSpPr>
        <p:spPr>
          <a:xfrm>
            <a:off x="35676" y="152400"/>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solidFill>
                  <a:schemeClr val="dk1"/>
                </a:solidFill>
              </a:rPr>
              <a:t>Modeling</a:t>
            </a: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3"/>
          <p:cNvSpPr txBox="1"/>
          <p:nvPr>
            <p:ph idx="1" type="body"/>
          </p:nvPr>
        </p:nvSpPr>
        <p:spPr>
          <a:xfrm>
            <a:off x="483175" y="1853075"/>
            <a:ext cx="2487600" cy="24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n" sz="1400">
                <a:solidFill>
                  <a:schemeClr val="hlink"/>
                </a:solidFill>
              </a:rPr>
              <a:t>Popularity metrics for ranking courses</a:t>
            </a:r>
            <a:endParaRPr b="1" sz="1400">
              <a:solidFill>
                <a:schemeClr val="hlink"/>
              </a:solidFill>
            </a:endParaRPr>
          </a:p>
          <a:p>
            <a:pPr indent="0" lvl="0" marL="0" rtl="0" algn="l">
              <a:spcBef>
                <a:spcPts val="1200"/>
              </a:spcBef>
              <a:spcAft>
                <a:spcPts val="1200"/>
              </a:spcAft>
              <a:buNone/>
            </a:pPr>
            <a:r>
              <a:rPr lang="en" sz="1400">
                <a:solidFill>
                  <a:schemeClr val="hlink"/>
                </a:solidFill>
              </a:rPr>
              <a:t>Created a composite popularity index for courses based on how quickly and how fully they fill, including waitlist and early rush signals.</a:t>
            </a:r>
            <a:endParaRPr sz="1400"/>
          </a:p>
        </p:txBody>
      </p:sp>
      <p:sp>
        <p:nvSpPr>
          <p:cNvPr id="446" name="Google Shape;446;p53"/>
          <p:cNvSpPr txBox="1"/>
          <p:nvPr>
            <p:ph idx="2" type="body"/>
          </p:nvPr>
        </p:nvSpPr>
        <p:spPr>
          <a:xfrm>
            <a:off x="3157650" y="1853075"/>
            <a:ext cx="2662200" cy="24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n" sz="1400">
                <a:solidFill>
                  <a:schemeClr val="hlink"/>
                </a:solidFill>
              </a:rPr>
              <a:t>Calculate Time-to-Fill Score (days to 90% capacity)</a:t>
            </a:r>
            <a:endParaRPr b="1" sz="1400">
              <a:solidFill>
                <a:schemeClr val="hlink"/>
              </a:solidFill>
            </a:endParaRPr>
          </a:p>
          <a:p>
            <a:pPr indent="0" lvl="0" marL="0" rtl="0" algn="l">
              <a:spcBef>
                <a:spcPts val="1200"/>
              </a:spcBef>
              <a:spcAft>
                <a:spcPts val="1200"/>
              </a:spcAft>
              <a:buNone/>
            </a:pPr>
            <a:r>
              <a:rPr lang="en" sz="1400">
                <a:solidFill>
                  <a:schemeClr val="hlink"/>
                </a:solidFill>
              </a:rPr>
              <a:t>Measure how many days each course takes to reach 90% capacity and convert this into a score where faster-filling courses are more popular.</a:t>
            </a:r>
            <a:endParaRPr sz="1400"/>
          </a:p>
        </p:txBody>
      </p:sp>
      <p:sp>
        <p:nvSpPr>
          <p:cNvPr id="447" name="Google Shape;447;p53"/>
          <p:cNvSpPr txBox="1"/>
          <p:nvPr>
            <p:ph idx="3" type="body"/>
          </p:nvPr>
        </p:nvSpPr>
        <p:spPr>
          <a:xfrm>
            <a:off x="6170825" y="1853075"/>
            <a:ext cx="2662200" cy="246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b="1" lang="en" sz="1400">
                <a:solidFill>
                  <a:schemeClr val="hlink"/>
                </a:solidFill>
              </a:rPr>
              <a:t>Popularity metrics summary</a:t>
            </a:r>
            <a:endParaRPr b="1" sz="1400">
              <a:solidFill>
                <a:schemeClr val="hlink"/>
              </a:solidFill>
            </a:endParaRPr>
          </a:p>
          <a:p>
            <a:pPr indent="0" lvl="0" marL="0" rtl="0" algn="l">
              <a:spcBef>
                <a:spcPts val="1200"/>
              </a:spcBef>
              <a:spcAft>
                <a:spcPts val="1200"/>
              </a:spcAft>
              <a:buNone/>
            </a:pPr>
            <a:br>
              <a:rPr lang="en" sz="1400">
                <a:solidFill>
                  <a:schemeClr val="hlink"/>
                </a:solidFill>
              </a:rPr>
            </a:br>
            <a:r>
              <a:rPr lang="en" sz="1400">
                <a:solidFill>
                  <a:schemeClr val="hlink"/>
                </a:solidFill>
              </a:rPr>
              <a:t>Calculate these metrics for 11,203 courses, providing a detailed popularity profile that includes final fill rate, velocity, time-to-fill, waitlist demand, early rush, and an overall composite score.</a:t>
            </a:r>
            <a:endParaRPr sz="1400"/>
          </a:p>
        </p:txBody>
      </p:sp>
      <p:sp>
        <p:nvSpPr>
          <p:cNvPr id="448" name="Google Shape;448;p53"/>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Course Popularity Classification by Levels</a:t>
            </a:r>
            <a:endParaRPr/>
          </a:p>
        </p:txBody>
      </p:sp>
      <p:sp>
        <p:nvSpPr>
          <p:cNvPr id="449" name="Google Shape;449;p53"/>
          <p:cNvSpPr txBox="1"/>
          <p:nvPr>
            <p:ph idx="2" type="body"/>
          </p:nvPr>
        </p:nvSpPr>
        <p:spPr>
          <a:xfrm>
            <a:off x="196951" y="196725"/>
            <a:ext cx="1860600" cy="209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800">
                <a:solidFill>
                  <a:schemeClr val="dk1"/>
                </a:solidFill>
              </a:rPr>
              <a:t>Modeling</a:t>
            </a:r>
            <a:endParaRPr sz="800">
              <a:solidFill>
                <a:schemeClr val="dk1"/>
              </a:solidFill>
            </a:endParaRPr>
          </a:p>
        </p:txBody>
      </p:sp>
      <p:sp>
        <p:nvSpPr>
          <p:cNvPr id="450" name="Google Shape;450;p53"/>
          <p:cNvSpPr txBox="1"/>
          <p:nvPr>
            <p:ph idx="1" type="body"/>
          </p:nvPr>
        </p:nvSpPr>
        <p:spPr>
          <a:xfrm>
            <a:off x="7087526" y="196725"/>
            <a:ext cx="1933500" cy="209100"/>
          </a:xfrm>
          <a:prstGeom prst="rect">
            <a:avLst/>
          </a:prstGeom>
        </p:spPr>
        <p:txBody>
          <a:bodyPr anchorCtr="0" anchor="t" bIns="91425" lIns="91425" spcFirstLastPara="1" rIns="91425" wrap="square" tIns="91425">
            <a:noAutofit/>
          </a:bodyPr>
          <a:lstStyle/>
          <a:p>
            <a:pPr indent="0" lvl="0" marL="0" rtl="0" algn="r">
              <a:spcBef>
                <a:spcPts val="0"/>
              </a:spcBef>
              <a:spcAft>
                <a:spcPts val="1200"/>
              </a:spcAft>
              <a:buNone/>
            </a:pPr>
            <a:r>
              <a:rPr lang="en" sz="800">
                <a:solidFill>
                  <a:schemeClr val="dk1"/>
                </a:solidFill>
              </a:rPr>
              <a:t>Data Mining</a:t>
            </a:r>
            <a:endParaRPr sz="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p54"/>
          <p:cNvPicPr preferRelativeResize="0"/>
          <p:nvPr/>
        </p:nvPicPr>
        <p:blipFill>
          <a:blip r:embed="rId3">
            <a:alphaModFix/>
          </a:blip>
          <a:stretch>
            <a:fillRect/>
          </a:stretch>
        </p:blipFill>
        <p:spPr>
          <a:xfrm>
            <a:off x="905013" y="152400"/>
            <a:ext cx="7333973" cy="4838699"/>
          </a:xfrm>
          <a:prstGeom prst="rect">
            <a:avLst/>
          </a:prstGeom>
          <a:noFill/>
          <a:ln>
            <a:noFill/>
          </a:ln>
        </p:spPr>
      </p:pic>
      <p:sp>
        <p:nvSpPr>
          <p:cNvPr id="456" name="Google Shape;456;p54"/>
          <p:cNvSpPr txBox="1"/>
          <p:nvPr>
            <p:ph idx="1"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800">
                <a:solidFill>
                  <a:schemeClr val="dk1"/>
                </a:solidFill>
              </a:rPr>
              <a:t>Modeling</a:t>
            </a:r>
            <a:endParaRPr sz="800">
              <a:solidFill>
                <a:schemeClr val="dk1"/>
              </a:solidFill>
            </a:endParaRPr>
          </a:p>
        </p:txBody>
      </p:sp>
      <p:sp>
        <p:nvSpPr>
          <p:cNvPr id="457" name="Google Shape;457;p54"/>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800">
                <a:solidFill>
                  <a:schemeClr val="dk1"/>
                </a:solidFill>
              </a:rPr>
              <a:t>Data Mining</a:t>
            </a:r>
            <a:endParaRPr sz="8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55"/>
          <p:cNvPicPr preferRelativeResize="0"/>
          <p:nvPr/>
        </p:nvPicPr>
        <p:blipFill>
          <a:blip r:embed="rId3">
            <a:alphaModFix/>
          </a:blip>
          <a:stretch>
            <a:fillRect/>
          </a:stretch>
        </p:blipFill>
        <p:spPr>
          <a:xfrm>
            <a:off x="1323625" y="152400"/>
            <a:ext cx="6496743" cy="4838699"/>
          </a:xfrm>
          <a:prstGeom prst="rect">
            <a:avLst/>
          </a:prstGeom>
          <a:noFill/>
          <a:ln>
            <a:noFill/>
          </a:ln>
        </p:spPr>
      </p:pic>
      <p:sp>
        <p:nvSpPr>
          <p:cNvPr id="463" name="Google Shape;463;p55"/>
          <p:cNvSpPr txBox="1"/>
          <p:nvPr>
            <p:ph idx="1"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800">
                <a:solidFill>
                  <a:schemeClr val="dk1"/>
                </a:solidFill>
              </a:rPr>
              <a:t>Modeling</a:t>
            </a:r>
            <a:endParaRPr sz="800">
              <a:solidFill>
                <a:schemeClr val="dk1"/>
              </a:solidFill>
            </a:endParaRPr>
          </a:p>
        </p:txBody>
      </p:sp>
      <p:sp>
        <p:nvSpPr>
          <p:cNvPr id="464" name="Google Shape;464;p55"/>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800">
                <a:solidFill>
                  <a:schemeClr val="dk1"/>
                </a:solidFill>
              </a:rPr>
              <a:t>Data Mining</a:t>
            </a:r>
            <a:endParaRPr sz="8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6"/>
          <p:cNvSpPr txBox="1"/>
          <p:nvPr>
            <p:ph idx="1"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800">
                <a:solidFill>
                  <a:schemeClr val="dk1"/>
                </a:solidFill>
              </a:rPr>
              <a:t>Modeling</a:t>
            </a:r>
            <a:endParaRPr sz="800">
              <a:solidFill>
                <a:schemeClr val="dk1"/>
              </a:solidFill>
            </a:endParaRPr>
          </a:p>
        </p:txBody>
      </p:sp>
      <p:sp>
        <p:nvSpPr>
          <p:cNvPr id="470" name="Google Shape;470;p56"/>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sz="800">
                <a:solidFill>
                  <a:schemeClr val="dk1"/>
                </a:solidFill>
              </a:rPr>
              <a:t>Data Mining</a:t>
            </a:r>
            <a:endParaRPr sz="800">
              <a:solidFill>
                <a:schemeClr val="dk1"/>
              </a:solidFill>
            </a:endParaRPr>
          </a:p>
        </p:txBody>
      </p:sp>
      <p:pic>
        <p:nvPicPr>
          <p:cNvPr id="471" name="Google Shape;471;p56"/>
          <p:cNvPicPr preferRelativeResize="0"/>
          <p:nvPr/>
        </p:nvPicPr>
        <p:blipFill>
          <a:blip r:embed="rId3">
            <a:alphaModFix/>
          </a:blip>
          <a:stretch>
            <a:fillRect/>
          </a:stretch>
        </p:blipFill>
        <p:spPr>
          <a:xfrm>
            <a:off x="2057050" y="355313"/>
            <a:ext cx="5029895" cy="44328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7" name="Google Shape;477;p57"/>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Table of Contents</a:t>
            </a:r>
            <a:endParaRPr/>
          </a:p>
        </p:txBody>
      </p:sp>
      <p:sp>
        <p:nvSpPr>
          <p:cNvPr id="478" name="Google Shape;478;p57"/>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Data Mining</a:t>
            </a:r>
            <a:endParaRPr/>
          </a:p>
        </p:txBody>
      </p:sp>
      <p:sp>
        <p:nvSpPr>
          <p:cNvPr id="479" name="Google Shape;479;p57"/>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Introduction &amp; Motivation</a:t>
            </a:r>
            <a:endParaRPr b="1" sz="3650">
              <a:solidFill>
                <a:schemeClr val="accent2"/>
              </a:solidFill>
              <a:latin typeface="Merriweather"/>
              <a:ea typeface="Merriweather"/>
              <a:cs typeface="Merriweather"/>
              <a:sym typeface="Merriweather"/>
            </a:endParaRPr>
          </a:p>
        </p:txBody>
      </p:sp>
      <p:sp>
        <p:nvSpPr>
          <p:cNvPr id="480" name="Google Shape;480;p57"/>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Cleaning &amp; Preprocessing</a:t>
            </a:r>
            <a:endParaRPr b="1" sz="3650">
              <a:solidFill>
                <a:schemeClr val="accent2"/>
              </a:solidFill>
              <a:latin typeface="Merriweather"/>
              <a:ea typeface="Merriweather"/>
              <a:cs typeface="Merriweather"/>
              <a:sym typeface="Merriweather"/>
            </a:endParaRPr>
          </a:p>
        </p:txBody>
      </p:sp>
      <p:sp>
        <p:nvSpPr>
          <p:cNvPr id="481" name="Google Shape;481;p57"/>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Feature Engineering</a:t>
            </a:r>
            <a:endParaRPr b="1" sz="3650">
              <a:solidFill>
                <a:schemeClr val="accent2"/>
              </a:solidFill>
              <a:latin typeface="Merriweather"/>
              <a:ea typeface="Merriweather"/>
              <a:cs typeface="Merriweather"/>
              <a:sym typeface="Merriweather"/>
            </a:endParaRPr>
          </a:p>
        </p:txBody>
      </p:sp>
      <p:sp>
        <p:nvSpPr>
          <p:cNvPr id="482" name="Google Shape;482;p57"/>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Modeling</a:t>
            </a:r>
            <a:endParaRPr b="1" sz="3650">
              <a:solidFill>
                <a:schemeClr val="accent2"/>
              </a:solidFill>
              <a:latin typeface="Merriweather"/>
              <a:ea typeface="Merriweather"/>
              <a:cs typeface="Merriweather"/>
              <a:sym typeface="Merriweather"/>
            </a:endParaRPr>
          </a:p>
        </p:txBody>
      </p:sp>
      <p:sp>
        <p:nvSpPr>
          <p:cNvPr id="483" name="Google Shape;483;p57"/>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Conclusion</a:t>
            </a:r>
            <a:endParaRPr b="1" sz="3650">
              <a:solidFill>
                <a:schemeClr val="dk1"/>
              </a:solidFill>
              <a:latin typeface="Merriweather"/>
              <a:ea typeface="Merriweather"/>
              <a:cs typeface="Merriweather"/>
              <a:sym typeface="Merriweather"/>
            </a:endParaRPr>
          </a:p>
        </p:txBody>
      </p:sp>
      <p:sp>
        <p:nvSpPr>
          <p:cNvPr id="484" name="Google Shape;484;p57"/>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485" name="Google Shape;485;p57"/>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486" name="Google Shape;486;p57"/>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487" name="Google Shape;487;p57"/>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488" name="Google Shape;488;p57"/>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5.</a:t>
            </a:r>
            <a:endParaRPr b="1" sz="1450">
              <a:solidFill>
                <a:schemeClr val="dk1"/>
              </a:solidFill>
              <a:latin typeface="Merriweather"/>
              <a:ea typeface="Merriweather"/>
              <a:cs typeface="Merriweather"/>
              <a:sym typeface="Merriweath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2" name="Shape 492"/>
        <p:cNvGrpSpPr/>
        <p:nvPr/>
      </p:nvGrpSpPr>
      <p:grpSpPr>
        <a:xfrm>
          <a:off x="0" y="0"/>
          <a:ext cx="0" cy="0"/>
          <a:chOff x="0" y="0"/>
          <a:chExt cx="0" cy="0"/>
        </a:xfrm>
      </p:grpSpPr>
      <p:sp>
        <p:nvSpPr>
          <p:cNvPr id="493" name="Google Shape;493;p58"/>
          <p:cNvSpPr txBox="1"/>
          <p:nvPr>
            <p:ph type="title"/>
          </p:nvPr>
        </p:nvSpPr>
        <p:spPr>
          <a:xfrm>
            <a:off x="1083750" y="798700"/>
            <a:ext cx="6976500" cy="708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1"/>
                </a:solidFill>
              </a:rPr>
              <a:t>Conclusion + Future Directions</a:t>
            </a:r>
            <a:endParaRPr>
              <a:solidFill>
                <a:schemeClr val="dk1"/>
              </a:solidFill>
            </a:endParaRPr>
          </a:p>
        </p:txBody>
      </p:sp>
      <p:sp>
        <p:nvSpPr>
          <p:cNvPr id="494" name="Google Shape;494;p58"/>
          <p:cNvSpPr txBox="1"/>
          <p:nvPr>
            <p:ph idx="1" type="body"/>
          </p:nvPr>
        </p:nvSpPr>
        <p:spPr>
          <a:xfrm>
            <a:off x="932400" y="1830750"/>
            <a:ext cx="7279200" cy="265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1"/>
                </a:solidFill>
              </a:rPr>
              <a:t>Our analysis provides metrics that can guide resource allocation and improve course selection planning for student with the potential to reduce burden on advisors due to better planning.</a:t>
            </a:r>
            <a:endParaRPr sz="1700">
              <a:solidFill>
                <a:schemeClr val="dk1"/>
              </a:solidFill>
            </a:endParaRPr>
          </a:p>
          <a:p>
            <a:pPr indent="0" lvl="0" marL="0" rtl="0" algn="l">
              <a:spcBef>
                <a:spcPts val="1200"/>
              </a:spcBef>
              <a:spcAft>
                <a:spcPts val="0"/>
              </a:spcAft>
              <a:buNone/>
            </a:pPr>
            <a:br>
              <a:rPr lang="en" sz="1700">
                <a:solidFill>
                  <a:schemeClr val="dk1"/>
                </a:solidFill>
              </a:rPr>
            </a:br>
            <a:r>
              <a:rPr lang="en" sz="1700">
                <a:solidFill>
                  <a:schemeClr val="dk1"/>
                </a:solidFill>
              </a:rPr>
              <a:t>Potential Future Avenues:</a:t>
            </a:r>
            <a:br>
              <a:rPr lang="en" sz="1700">
                <a:solidFill>
                  <a:schemeClr val="dk1"/>
                </a:solidFill>
              </a:rPr>
            </a:br>
            <a:br>
              <a:rPr lang="en" sz="1700">
                <a:solidFill>
                  <a:schemeClr val="dk1"/>
                </a:solidFill>
              </a:rPr>
            </a:br>
            <a:r>
              <a:rPr lang="en" sz="1700">
                <a:solidFill>
                  <a:schemeClr val="dk1"/>
                </a:solidFill>
              </a:rPr>
              <a:t>→ </a:t>
            </a:r>
            <a:r>
              <a:rPr lang="en" sz="1700">
                <a:solidFill>
                  <a:schemeClr val="dk1"/>
                </a:solidFill>
              </a:rPr>
              <a:t>Add notifications for courses with unusually low or high enrollment </a:t>
            </a:r>
            <a:endParaRPr sz="1700">
              <a:solidFill>
                <a:schemeClr val="dk1"/>
              </a:solidFill>
            </a:endParaRPr>
          </a:p>
          <a:p>
            <a:pPr indent="0" lvl="0" marL="0" rtl="0" algn="l">
              <a:spcBef>
                <a:spcPts val="1200"/>
              </a:spcBef>
              <a:spcAft>
                <a:spcPts val="1200"/>
              </a:spcAft>
              <a:buNone/>
            </a:pPr>
            <a:r>
              <a:rPr lang="en" sz="1700">
                <a:solidFill>
                  <a:schemeClr val="dk1"/>
                </a:solidFill>
              </a:rPr>
              <a:t>→ Flag courses that may benefit from targeted marketing and outreach</a:t>
            </a:r>
            <a:endParaRPr sz="1700">
              <a:solidFill>
                <a:schemeClr val="dk1"/>
              </a:solidFill>
            </a:endParaRPr>
          </a:p>
        </p:txBody>
      </p:sp>
      <p:sp>
        <p:nvSpPr>
          <p:cNvPr id="495" name="Google Shape;495;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5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solidFill>
                  <a:schemeClr val="dk1"/>
                </a:solidFill>
              </a:rPr>
              <a:t>Conclusion</a:t>
            </a:r>
            <a:endParaRPr>
              <a:solidFill>
                <a:schemeClr val="dk1"/>
              </a:solidFill>
            </a:endParaRPr>
          </a:p>
        </p:txBody>
      </p:sp>
      <p:sp>
        <p:nvSpPr>
          <p:cNvPr id="497" name="Google Shape;497;p5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solidFill>
                  <a:schemeClr val="dk1"/>
                </a:solidFill>
              </a:rPr>
              <a:t>Data Mining</a:t>
            </a:r>
            <a:endParaRPr>
              <a:solidFill>
                <a:schemeClr val="dk1"/>
              </a:solidFill>
            </a:endParaRPr>
          </a:p>
        </p:txBody>
      </p:sp>
      <p:sp>
        <p:nvSpPr>
          <p:cNvPr id="498" name="Google Shape;498;p5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2" name="Shape 502"/>
        <p:cNvGrpSpPr/>
        <p:nvPr/>
      </p:nvGrpSpPr>
      <p:grpSpPr>
        <a:xfrm>
          <a:off x="0" y="0"/>
          <a:ext cx="0" cy="0"/>
          <a:chOff x="0" y="0"/>
          <a:chExt cx="0" cy="0"/>
        </a:xfrm>
      </p:grpSpPr>
      <p:sp>
        <p:nvSpPr>
          <p:cNvPr id="503" name="Google Shape;503;p59"/>
          <p:cNvSpPr txBox="1"/>
          <p:nvPr>
            <p:ph type="title"/>
          </p:nvPr>
        </p:nvSpPr>
        <p:spPr>
          <a:xfrm>
            <a:off x="1083750" y="798700"/>
            <a:ext cx="6976500" cy="708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1"/>
                </a:solidFill>
              </a:rPr>
              <a:t>References</a:t>
            </a:r>
            <a:endParaRPr>
              <a:solidFill>
                <a:schemeClr val="dk1"/>
              </a:solidFill>
            </a:endParaRPr>
          </a:p>
        </p:txBody>
      </p:sp>
      <p:sp>
        <p:nvSpPr>
          <p:cNvPr id="504" name="Google Shape;504;p59"/>
          <p:cNvSpPr txBox="1"/>
          <p:nvPr>
            <p:ph idx="1" type="body"/>
          </p:nvPr>
        </p:nvSpPr>
        <p:spPr>
          <a:xfrm>
            <a:off x="932400" y="1838900"/>
            <a:ext cx="7279200" cy="26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sz="1400">
                <a:solidFill>
                  <a:schemeClr val="dk1"/>
                </a:solidFill>
              </a:rPr>
              <a:t>Advisor to student ratio/caseload resources. NACADA. (n.d.). </a:t>
            </a:r>
            <a:r>
              <a:rPr lang="en" sz="1400" u="sng">
                <a:solidFill>
                  <a:schemeClr val="hlink"/>
                </a:solidFill>
                <a:hlinkClick r:id="rId3"/>
              </a:rPr>
              <a:t>https://nacada.ksu.edu/Resources/Clearinghouse/View-Articles/Advisor-to-Student-Ratio-Caseload-Resources.aspx</a:t>
            </a:r>
            <a:endParaRPr sz="1400">
              <a:solidFill>
                <a:schemeClr val="dk1"/>
              </a:solidFill>
            </a:endParaRPr>
          </a:p>
          <a:p>
            <a:pPr indent="0" lvl="0" marL="0" rtl="0" algn="l">
              <a:spcBef>
                <a:spcPts val="1200"/>
              </a:spcBef>
              <a:spcAft>
                <a:spcPts val="0"/>
              </a:spcAft>
              <a:buClr>
                <a:schemeClr val="hlink"/>
              </a:buClr>
              <a:buSzPts val="1100"/>
              <a:buFont typeface="Arial"/>
              <a:buNone/>
            </a:pPr>
            <a:r>
              <a:rPr lang="en" sz="1400">
                <a:solidFill>
                  <a:schemeClr val="dk1"/>
                </a:solidFill>
              </a:rPr>
              <a:t>Amos, D. (2024, March 28). A practical introduction to web scraping in Python. Real Python. </a:t>
            </a:r>
            <a:r>
              <a:rPr lang="en" sz="1400" u="sng">
                <a:solidFill>
                  <a:schemeClr val="hlink"/>
                </a:solidFill>
                <a:hlinkClick r:id="rId4"/>
              </a:rPr>
              <a:t>https://realpython.com/python-web-scraping-practical-introduction/</a:t>
            </a:r>
            <a:endParaRPr sz="1400">
              <a:solidFill>
                <a:schemeClr val="dk1"/>
              </a:solidFill>
            </a:endParaRPr>
          </a:p>
          <a:p>
            <a:pPr indent="0" lvl="0" marL="0" rtl="0" algn="l">
              <a:spcBef>
                <a:spcPts val="1200"/>
              </a:spcBef>
              <a:spcAft>
                <a:spcPts val="0"/>
              </a:spcAft>
              <a:buClr>
                <a:schemeClr val="hlink"/>
              </a:buClr>
              <a:buSzPts val="1100"/>
              <a:buFont typeface="Arial"/>
              <a:buNone/>
            </a:pPr>
            <a:r>
              <a:rPr lang="en" sz="1400">
                <a:solidFill>
                  <a:schemeClr val="dk1"/>
                </a:solidFill>
              </a:rPr>
              <a:t>Digest of Education Statistics, 2021. National Center for Education Statistics (NCES) Home Page, a part of the U.S. Department of Education. (n.d.). </a:t>
            </a:r>
            <a:r>
              <a:rPr lang="en" sz="1400" u="sng">
                <a:solidFill>
                  <a:schemeClr val="hlink"/>
                </a:solidFill>
                <a:hlinkClick r:id="rId5"/>
              </a:rPr>
              <a:t>https://nces.ed.gov/programs/digest/d21/tables/dt21_326.10.asp</a:t>
            </a:r>
            <a:endParaRPr sz="1400">
              <a:solidFill>
                <a:schemeClr val="dk1"/>
              </a:solidFill>
            </a:endParaRPr>
          </a:p>
          <a:p>
            <a:pPr indent="0" lvl="0" marL="0" rtl="0" algn="l">
              <a:spcBef>
                <a:spcPts val="1200"/>
              </a:spcBef>
              <a:spcAft>
                <a:spcPts val="1200"/>
              </a:spcAft>
              <a:buNone/>
            </a:pPr>
            <a:r>
              <a:rPr lang="en" sz="1400">
                <a:solidFill>
                  <a:schemeClr val="dk1"/>
                </a:solidFill>
              </a:rPr>
              <a:t>University of Miami (2021). CaneLink. </a:t>
            </a:r>
            <a:r>
              <a:rPr lang="en" sz="1400" u="sng">
                <a:solidFill>
                  <a:schemeClr val="hlink"/>
                </a:solidFill>
                <a:hlinkClick r:id="rId6"/>
              </a:rPr>
              <a:t>https://canelink.miami.edu/</a:t>
            </a:r>
            <a:endParaRPr sz="1400">
              <a:solidFill>
                <a:schemeClr val="dk1"/>
              </a:solidFill>
            </a:endParaRPr>
          </a:p>
        </p:txBody>
      </p:sp>
      <p:sp>
        <p:nvSpPr>
          <p:cNvPr id="505" name="Google Shape;505;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6" name="Google Shape;506;p59"/>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solidFill>
                  <a:schemeClr val="dk1"/>
                </a:solidFill>
              </a:rPr>
              <a:t>Conclusion</a:t>
            </a:r>
            <a:endParaRPr>
              <a:solidFill>
                <a:schemeClr val="dk1"/>
              </a:solidFill>
            </a:endParaRPr>
          </a:p>
        </p:txBody>
      </p:sp>
      <p:sp>
        <p:nvSpPr>
          <p:cNvPr id="507" name="Google Shape;507;p5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solidFill>
                  <a:schemeClr val="dk1"/>
                </a:solidFill>
              </a:rPr>
              <a:t>Data Mining</a:t>
            </a:r>
            <a:endParaRPr>
              <a:solidFill>
                <a:schemeClr val="dk1"/>
              </a:solidFill>
            </a:endParaRPr>
          </a:p>
        </p:txBody>
      </p:sp>
      <p:sp>
        <p:nvSpPr>
          <p:cNvPr id="508" name="Google Shape;508;p59"/>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